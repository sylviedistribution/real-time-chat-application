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Hello, my name is Sylvestre. For my final Master's checkpoint I designed, built and deployed ThotTalk, a real-time messaging platform. In the next ten minutes: the problem, a live demo, the architecture, and what I learned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Instant communication runs on closed, centralized, costly platforms. For communities and schools, especially here in West Africa, that means no control over data and no ability to adapt the tool. My question: can we build a complete alternative with open technologies and zero hosting budget? ThotTalk is the proof by construction that the answer is yes. It is also, transparently, a study of real-time engineering — the concurrency and connection-lifecycle problems that make these systems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Quick overview of the delivered features — authentication, public rooms with a full lifecycle including ownership transfer, moderation with kick and ban, private conversations with user search, real-time messaging, and paginated history. The visual identity honors Thoth, the Egyptian god of writing. Rather than describing it further — let me show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 switch to the browser now. Demo script: (1) Register a new account, land in the chat. (2) Create a room, note I am owner and first member. (3) Second window, second account: the room appears under 'Discover', join it. (4) Exchange messages both ways — point out the instant delivery and the sending-to-sent status transition. (5) As owner, hover a member: kick, then rejoin, then ban — the banned user is refused with a clear message. (6) One glance at /api-docs: the whole API is documented and testable. Then switch back to slides. IMPORTANT: warm up the Render backend BEFORE recording, keep both windows logged in and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Three-tier cloud topology: static React app on Vercel's CDN, containerized Node backend on Render exposing REST and Socket.IO on the same port, managed MongoDB Atlas. The defining decision is the shared service layer: both channels call the same service functions, so authorization rules are written once. The classic vulnerability where the socket path bypasses HTTP checks cannot exist here. Also: REST carries state, sockets carry events; the client stores only the token; the URL drives navigation so back button and refresh work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Every choice is justified, alternatives documented. Highlight two: Socket.IO was adopted only after I experimented with the raw WebSocket protocol and hit its five walls — no rooms, no acks, no reconnection, no semantics, no fallback; each Socket.IO feature answers one of them. And the in-memory MongoDB for tests gives real database behavior with total isolation — which is also why my CI needs zero secrets. TypeScript was deliberately deferred, and I can defend that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Defense in depth guided by OWASP: authentication on both channels including the socket handshake; per-channel authorization distinct from authentication — the most widespread flaw in messaging projects, closed in the shared layer; hardened inputs including regex escaping; rate limits and container hardening. And one honest disclosure: I once shipped the messages router without its auth guard. A crash revealed it, I audited all four routers, and regression tests now lock it. I keep this story because the lesson — an unused import is a warning — is worth more than pretending it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The numbers: 39 integration and socket tests over a real in-memory MongoDB; 20 incidents documented in a structured journal; 16 documented endpoints; one command reproduces the whole stack. The tests protect security properties, not just features — and their very first run caught a real contract inconsistency the client's defensive code had been masking. That is exactly what a test suite is for. CI runs everything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One story from the incident journal, because it captures what real-time engineering is. When you send a message, a draft appears instantly. The server persists it, broadcasts it to the room — sender included — and only then acknowledges. So your own message reaches you twice, and the broadcast wins the race: without care, the ack turned the draft into a duplicate. The fix makes each side check whether the other already passed. The general lesson: with two independent sources of the same data, one-sided guards are never enough. This kind of timing-dependent defect is what separates real-time systems from ordinary CRUD — and diagnosing it methodically was the most formative moment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Left: everything Must-have and Should-have is delivered and verifiable in production, documented from UML to incident journal, reproducible in one command, at zero hosting cost — the problem statement, answered. Right, honestly: presence indicators are static today — the first planned evolution, on the exact socket pattern already in place; free-tier cold starts are covered by the loading experience; no end-to-end encryption yet. Longer term: TypeScript, schema-first validation, and the Redis adapter for horizontal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ThotTalk went from a blank UML diagram to a tested, documented, containerized application in production. The code is public, the app is live, and everything I claimed today can be verified by cloning the repository or opening the link.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5413248" y="1051560"/>
            <a:ext cx="1371600" cy="1371600"/>
          </a:xfrm>
          <a:prstGeom prst="roundRect">
            <a:avLst>
              <a:gd name="adj" fmla="val 18667"/>
            </a:avLst>
          </a:prstGeom>
          <a:solidFill>
            <a:srgbClr val="D97706"/>
          </a:solidFill>
          <a:ln/>
        </p:spPr>
      </p:sp>
      <p:sp>
        <p:nvSpPr>
          <p:cNvPr id="3" name="Text 1"/>
          <p:cNvSpPr/>
          <p:nvPr/>
        </p:nvSpPr>
        <p:spPr>
          <a:xfrm>
            <a:off x="5413248" y="1051560"/>
            <a:ext cx="1371600" cy="1371600"/>
          </a:xfrm>
          <a:prstGeom prst="rect">
            <a:avLst/>
          </a:prstGeom>
          <a:noFill/>
          <a:ln/>
        </p:spPr>
        <p:txBody>
          <a:bodyPr wrap="square" rtlCol="0" anchor="ctr"/>
          <a:lstStyle/>
          <a:p>
            <a:pPr algn="ctr" indent="0" marL="0">
              <a:buNone/>
            </a:pPr>
            <a:r>
              <a:rPr lang="en-US" sz="5400" b="1" dirty="0">
                <a:solidFill>
                  <a:srgbClr val="FFFBEB"/>
                </a:solidFill>
                <a:latin typeface="Calibri" pitchFamily="34" charset="0"/>
                <a:ea typeface="Calibri" pitchFamily="34" charset="-122"/>
                <a:cs typeface="Calibri" pitchFamily="34" charset="-120"/>
              </a:rPr>
              <a:t>T</a:t>
            </a:r>
            <a:endParaRPr lang="en-US" sz="5400" dirty="0"/>
          </a:p>
        </p:txBody>
      </p:sp>
      <p:sp>
        <p:nvSpPr>
          <p:cNvPr id="4" name="Text 2"/>
          <p:cNvSpPr/>
          <p:nvPr/>
        </p:nvSpPr>
        <p:spPr>
          <a:xfrm>
            <a:off x="0" y="2697480"/>
            <a:ext cx="12188952" cy="100584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ThotTalk</a:t>
            </a:r>
            <a:endParaRPr lang="en-US" sz="6000" dirty="0"/>
          </a:p>
        </p:txBody>
      </p:sp>
      <p:sp>
        <p:nvSpPr>
          <p:cNvPr id="5" name="Text 3"/>
          <p:cNvSpPr/>
          <p:nvPr/>
        </p:nvSpPr>
        <p:spPr>
          <a:xfrm>
            <a:off x="0" y="3703320"/>
            <a:ext cx="12188952" cy="457200"/>
          </a:xfrm>
          <a:prstGeom prst="rect">
            <a:avLst/>
          </a:prstGeom>
          <a:noFill/>
          <a:ln/>
        </p:spPr>
        <p:txBody>
          <a:bodyPr wrap="square" rtlCol="0" anchor="ctr"/>
          <a:lstStyle/>
          <a:p>
            <a:pPr algn="ctr" indent="0" marL="0">
              <a:buNone/>
            </a:pPr>
            <a:r>
              <a:rPr lang="en-US" sz="2000" i="1" dirty="0">
                <a:solidFill>
                  <a:srgbClr val="C7C9F0"/>
                </a:solidFill>
                <a:latin typeface="Calibri" pitchFamily="34" charset="0"/>
                <a:ea typeface="Calibri" pitchFamily="34" charset="-122"/>
                <a:cs typeface="Calibri" pitchFamily="34" charset="-120"/>
              </a:rPr>
              <a:t>A real-time messaging platform — open, self-hostable, built end to end</a:t>
            </a:r>
            <a:endParaRPr lang="en-US" sz="2000" dirty="0"/>
          </a:p>
        </p:txBody>
      </p:sp>
      <p:sp>
        <p:nvSpPr>
          <p:cNvPr id="6" name="Text 4"/>
          <p:cNvSpPr/>
          <p:nvPr/>
        </p:nvSpPr>
        <p:spPr>
          <a:xfrm>
            <a:off x="0" y="4663440"/>
            <a:ext cx="12188952"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Sylvestre IBOMBO GAKOSSO</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Final Checkpoint — Master's in Software Engineering · GOMYCODE, Dakar</a:t>
            </a:r>
            <a:endParaRPr lang="en-US" sz="1600" dirty="0"/>
          </a:p>
        </p:txBody>
      </p:sp>
      <p:sp>
        <p:nvSpPr>
          <p:cNvPr id="7" name="Text 5"/>
          <p:cNvSpPr/>
          <p:nvPr/>
        </p:nvSpPr>
        <p:spPr>
          <a:xfrm>
            <a:off x="0" y="5806440"/>
            <a:ext cx="12188952" cy="365760"/>
          </a:xfrm>
          <a:prstGeom prst="rect">
            <a:avLst/>
          </a:prstGeom>
          <a:noFill/>
          <a:ln/>
        </p:spPr>
        <p:txBody>
          <a:bodyPr wrap="square" rtlCol="0" anchor="ctr"/>
          <a:lstStyle/>
          <a:p>
            <a:pPr algn="ctr" indent="0" marL="0">
              <a:buNone/>
            </a:pPr>
            <a:r>
              <a:rPr lang="en-US" sz="1300" dirty="0">
                <a:solidFill>
                  <a:srgbClr val="D97706"/>
                </a:solidFill>
                <a:latin typeface="Consolas" pitchFamily="34" charset="0"/>
                <a:ea typeface="Consolas" pitchFamily="34" charset="-122"/>
                <a:cs typeface="Consolas" pitchFamily="34" charset="-120"/>
              </a:rPr>
              <a:t>thottalk.vercel.app   ·   github.com/Sylviedistribution/Real-time-Chat-Application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8229600" cy="640080"/>
          </a:xfrm>
          <a:prstGeom prst="rect">
            <a:avLst/>
          </a:prstGeom>
          <a:noFill/>
          <a:ln/>
        </p:spPr>
        <p:txBody>
          <a:bodyPr wrap="square" rtlCol="0" anchor="ctr"/>
          <a:lstStyle/>
          <a:p>
            <a:pPr indent="0" marL="0">
              <a:buNone/>
            </a:pPr>
            <a:r>
              <a:rPr lang="en-US" sz="3400" b="1" dirty="0">
                <a:solidFill>
                  <a:srgbClr val="312E81"/>
                </a:solidFill>
                <a:latin typeface="Calibri" pitchFamily="34" charset="0"/>
                <a:ea typeface="Calibri" pitchFamily="34" charset="-122"/>
                <a:cs typeface="Calibri" pitchFamily="34" charset="-120"/>
              </a:rPr>
              <a:t>The problem</a:t>
            </a:r>
            <a:endParaRPr lang="en-US" sz="3400" dirty="0"/>
          </a:p>
        </p:txBody>
      </p:sp>
      <p:sp>
        <p:nvSpPr>
          <p:cNvPr id="3" name="Shape 1"/>
          <p:cNvSpPr/>
          <p:nvPr/>
        </p:nvSpPr>
        <p:spPr>
          <a:xfrm>
            <a:off x="502920" y="1463040"/>
            <a:ext cx="3566160" cy="2286000"/>
          </a:xfrm>
          <a:prstGeom prst="roundRect">
            <a:avLst>
              <a:gd name="adj" fmla="val 4800"/>
            </a:avLst>
          </a:prstGeom>
          <a:solidFill>
            <a:srgbClr val="FFFFFF"/>
          </a:solidFill>
          <a:ln/>
          <a:effectLst>
            <a:outerShdw sx="100000" sy="100000" kx="0" ky="0" algn="bl" rotWithShape="0" blurRad="101600" dist="25400" dir="5400000">
              <a:srgbClr val="9CA3AF">
                <a:alpha val="35000"/>
              </a:srgbClr>
            </a:outerShdw>
          </a:effectLst>
        </p:spPr>
      </p:sp>
      <p:sp>
        <p:nvSpPr>
          <p:cNvPr id="4" name="Text 2"/>
          <p:cNvSpPr/>
          <p:nvPr/>
        </p:nvSpPr>
        <p:spPr>
          <a:xfrm>
            <a:off x="731520" y="1691640"/>
            <a:ext cx="3108960" cy="411480"/>
          </a:xfrm>
          <a:prstGeom prst="rect">
            <a:avLst/>
          </a:prstGeom>
          <a:noFill/>
          <a:ln/>
        </p:spPr>
        <p:txBody>
          <a:bodyPr wrap="square" rtlCol="0" anchor="ctr"/>
          <a:lstStyle/>
          <a:p>
            <a:pPr indent="0" marL="0">
              <a:buNone/>
            </a:pPr>
            <a:r>
              <a:rPr lang="en-US" sz="1900" b="1" dirty="0">
                <a:solidFill>
                  <a:srgbClr val="D97706"/>
                </a:solidFill>
                <a:latin typeface="Calibri" pitchFamily="34" charset="0"/>
                <a:ea typeface="Calibri" pitchFamily="34" charset="-122"/>
                <a:cs typeface="Calibri" pitchFamily="34" charset="-120"/>
              </a:rPr>
              <a:t>Closed</a:t>
            </a:r>
            <a:endParaRPr lang="en-US" sz="1900" dirty="0"/>
          </a:p>
        </p:txBody>
      </p:sp>
      <p:sp>
        <p:nvSpPr>
          <p:cNvPr id="5" name="Text 3"/>
          <p:cNvSpPr/>
          <p:nvPr/>
        </p:nvSpPr>
        <p:spPr>
          <a:xfrm>
            <a:off x="731520" y="2148840"/>
            <a:ext cx="3108960" cy="14630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Mainstream messaging platforms are proprietary: their code cannot be audited, their behavior cannot be verified.</a:t>
            </a:r>
            <a:endParaRPr lang="en-US" sz="1350" dirty="0"/>
          </a:p>
        </p:txBody>
      </p:sp>
      <p:sp>
        <p:nvSpPr>
          <p:cNvPr id="6" name="Shape 4"/>
          <p:cNvSpPr/>
          <p:nvPr/>
        </p:nvSpPr>
        <p:spPr>
          <a:xfrm>
            <a:off x="4325112" y="1463040"/>
            <a:ext cx="3566160" cy="2286000"/>
          </a:xfrm>
          <a:prstGeom prst="roundRect">
            <a:avLst>
              <a:gd name="adj" fmla="val 4800"/>
            </a:avLst>
          </a:prstGeom>
          <a:solidFill>
            <a:srgbClr val="FFFFFF"/>
          </a:solidFill>
          <a:ln/>
          <a:effectLst>
            <a:outerShdw sx="100000" sy="100000" kx="0" ky="0" algn="bl" rotWithShape="0" blurRad="101600" dist="25400" dir="5400000">
              <a:srgbClr val="9CA3AF">
                <a:alpha val="35000"/>
              </a:srgbClr>
            </a:outerShdw>
          </a:effectLst>
        </p:spPr>
      </p:sp>
      <p:sp>
        <p:nvSpPr>
          <p:cNvPr id="7" name="Text 5"/>
          <p:cNvSpPr/>
          <p:nvPr/>
        </p:nvSpPr>
        <p:spPr>
          <a:xfrm>
            <a:off x="4553712" y="1691640"/>
            <a:ext cx="3108960" cy="411480"/>
          </a:xfrm>
          <a:prstGeom prst="rect">
            <a:avLst/>
          </a:prstGeom>
          <a:noFill/>
          <a:ln/>
        </p:spPr>
        <p:txBody>
          <a:bodyPr wrap="square" rtlCol="0" anchor="ctr"/>
          <a:lstStyle/>
          <a:p>
            <a:pPr indent="0" marL="0">
              <a:buNone/>
            </a:pPr>
            <a:r>
              <a:rPr lang="en-US" sz="1900" b="1" dirty="0">
                <a:solidFill>
                  <a:srgbClr val="D97706"/>
                </a:solidFill>
                <a:latin typeface="Calibri" pitchFamily="34" charset="0"/>
                <a:ea typeface="Calibri" pitchFamily="34" charset="-122"/>
                <a:cs typeface="Calibri" pitchFamily="34" charset="-120"/>
              </a:rPr>
              <a:t>Centralized</a:t>
            </a:r>
            <a:endParaRPr lang="en-US" sz="1900" dirty="0"/>
          </a:p>
        </p:txBody>
      </p:sp>
      <p:sp>
        <p:nvSpPr>
          <p:cNvPr id="8" name="Text 6"/>
          <p:cNvSpPr/>
          <p:nvPr/>
        </p:nvSpPr>
        <p:spPr>
          <a:xfrm>
            <a:off x="4553712" y="2148840"/>
            <a:ext cx="3108960" cy="14630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They cannot be self-hosted. Communities, schools and small organizations surrender control of their data.</a:t>
            </a:r>
            <a:endParaRPr lang="en-US" sz="1350" dirty="0"/>
          </a:p>
        </p:txBody>
      </p:sp>
      <p:sp>
        <p:nvSpPr>
          <p:cNvPr id="9" name="Shape 7"/>
          <p:cNvSpPr/>
          <p:nvPr/>
        </p:nvSpPr>
        <p:spPr>
          <a:xfrm>
            <a:off x="8147304" y="1463040"/>
            <a:ext cx="3566160" cy="2286000"/>
          </a:xfrm>
          <a:prstGeom prst="roundRect">
            <a:avLst>
              <a:gd name="adj" fmla="val 4800"/>
            </a:avLst>
          </a:prstGeom>
          <a:solidFill>
            <a:srgbClr val="FFFFFF"/>
          </a:solidFill>
          <a:ln/>
          <a:effectLst>
            <a:outerShdw sx="100000" sy="100000" kx="0" ky="0" algn="bl" rotWithShape="0" blurRad="101600" dist="25400" dir="5400000">
              <a:srgbClr val="9CA3AF">
                <a:alpha val="35000"/>
              </a:srgbClr>
            </a:outerShdw>
          </a:effectLst>
        </p:spPr>
      </p:sp>
      <p:sp>
        <p:nvSpPr>
          <p:cNvPr id="10" name="Text 8"/>
          <p:cNvSpPr/>
          <p:nvPr/>
        </p:nvSpPr>
        <p:spPr>
          <a:xfrm>
            <a:off x="8375904" y="1691640"/>
            <a:ext cx="3108960" cy="411480"/>
          </a:xfrm>
          <a:prstGeom prst="rect">
            <a:avLst/>
          </a:prstGeom>
          <a:noFill/>
          <a:ln/>
        </p:spPr>
        <p:txBody>
          <a:bodyPr wrap="square" rtlCol="0" anchor="ctr"/>
          <a:lstStyle/>
          <a:p>
            <a:pPr indent="0" marL="0">
              <a:buNone/>
            </a:pPr>
            <a:r>
              <a:rPr lang="en-US" sz="1900" b="1" dirty="0">
                <a:solidFill>
                  <a:srgbClr val="D97706"/>
                </a:solidFill>
                <a:latin typeface="Calibri" pitchFamily="34" charset="0"/>
                <a:ea typeface="Calibri" pitchFamily="34" charset="-122"/>
                <a:cs typeface="Calibri" pitchFamily="34" charset="-120"/>
              </a:rPr>
              <a:t>Costly</a:t>
            </a:r>
            <a:endParaRPr lang="en-US" sz="1900" dirty="0"/>
          </a:p>
        </p:txBody>
      </p:sp>
      <p:sp>
        <p:nvSpPr>
          <p:cNvPr id="11" name="Text 9"/>
          <p:cNvSpPr/>
          <p:nvPr/>
        </p:nvSpPr>
        <p:spPr>
          <a:xfrm>
            <a:off x="8375904" y="2148840"/>
            <a:ext cx="3108960" cy="1463040"/>
          </a:xfrm>
          <a:prstGeom prst="rect">
            <a:avLst/>
          </a:prstGeom>
          <a:noFill/>
          <a:ln/>
        </p:spPr>
        <p:txBody>
          <a:bodyPr wrap="square" rtlCol="0" anchor="ctr"/>
          <a:lstStyle/>
          <a:p>
            <a:pPr indent="0" marL="0">
              <a:buNone/>
            </a:pPr>
            <a:r>
              <a:rPr lang="en-US" sz="1350" dirty="0">
                <a:solidFill>
                  <a:srgbClr val="1F2937"/>
                </a:solidFill>
                <a:latin typeface="Calibri" pitchFamily="34" charset="0"/>
                <a:ea typeface="Calibri" pitchFamily="34" charset="-122"/>
                <a:cs typeface="Calibri" pitchFamily="34" charset="-120"/>
              </a:rPr>
              <a:t>Free tiers are limited; professional plans are priced beyond many organizations — especially in resource-constrained contexts.</a:t>
            </a:r>
            <a:endParaRPr lang="en-US" sz="1350" dirty="0"/>
          </a:p>
        </p:txBody>
      </p:sp>
      <p:sp>
        <p:nvSpPr>
          <p:cNvPr id="12" name="Shape 10"/>
          <p:cNvSpPr/>
          <p:nvPr/>
        </p:nvSpPr>
        <p:spPr>
          <a:xfrm>
            <a:off x="502920" y="4160520"/>
            <a:ext cx="11183112" cy="1691640"/>
          </a:xfrm>
          <a:prstGeom prst="roundRect">
            <a:avLst>
              <a:gd name="adj" fmla="val 6486"/>
            </a:avLst>
          </a:prstGeom>
          <a:solidFill>
            <a:srgbClr val="312E81"/>
          </a:solidFill>
          <a:ln/>
        </p:spPr>
      </p:sp>
      <p:sp>
        <p:nvSpPr>
          <p:cNvPr id="13" name="Text 11"/>
          <p:cNvSpPr/>
          <p:nvPr/>
        </p:nvSpPr>
        <p:spPr>
          <a:xfrm>
            <a:off x="868680" y="4389120"/>
            <a:ext cx="10424160" cy="1280160"/>
          </a:xfrm>
          <a:prstGeom prst="rect">
            <a:avLst/>
          </a:prstGeom>
          <a:noFill/>
          <a:ln/>
        </p:spPr>
        <p:txBody>
          <a:bodyPr wrap="square"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The question this project answers</a:t>
            </a:r>
            <a:endParaRPr lang="en-US" sz="1500" dirty="0"/>
          </a:p>
          <a:p>
            <a:pPr indent="0" marL="0">
              <a:buNone/>
            </a:pPr>
            <a:r>
              <a:rPr lang="en-US" sz="1600" dirty="0">
                <a:solidFill>
                  <a:srgbClr val="FFFFFF"/>
                </a:solidFill>
                <a:latin typeface="Calibri" pitchFamily="34" charset="0"/>
                <a:ea typeface="Calibri" pitchFamily="34" charset="-122"/>
                <a:cs typeface="Calibri" pitchFamily="34" charset="-120"/>
              </a:rPr>
              <a:t>Can a complete, secure, documented real-time messaging platform be built with exclusively open technologies and a zero hosting budget — reproducible by anyone who wants to self-host it?</a:t>
            </a:r>
            <a:endParaRPr lang="en-US" sz="1500" dirty="0"/>
          </a:p>
        </p:txBody>
      </p:sp>
      <p:sp>
        <p:nvSpPr>
          <p:cNvPr id="14" name="Text 12"/>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5" name="Text 13"/>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8229600" cy="640080"/>
          </a:xfrm>
          <a:prstGeom prst="rect">
            <a:avLst/>
          </a:prstGeom>
          <a:noFill/>
          <a:ln/>
        </p:spPr>
        <p:txBody>
          <a:bodyPr wrap="square" rtlCol="0" anchor="ctr"/>
          <a:lstStyle/>
          <a:p>
            <a:pPr indent="0" marL="0">
              <a:buNone/>
            </a:pPr>
            <a:r>
              <a:rPr lang="en-US" sz="3400" b="1" dirty="0">
                <a:solidFill>
                  <a:srgbClr val="312E81"/>
                </a:solidFill>
                <a:latin typeface="Calibri" pitchFamily="34" charset="0"/>
                <a:ea typeface="Calibri" pitchFamily="34" charset="-122"/>
                <a:cs typeface="Calibri" pitchFamily="34" charset="-120"/>
              </a:rPr>
              <a:t>What ThotTalk does</a:t>
            </a:r>
            <a:endParaRPr lang="en-US" sz="3400" dirty="0"/>
          </a:p>
        </p:txBody>
      </p:sp>
      <p:sp>
        <p:nvSpPr>
          <p:cNvPr id="3" name="Shape 1"/>
          <p:cNvSpPr/>
          <p:nvPr/>
        </p:nvSpPr>
        <p:spPr>
          <a:xfrm>
            <a:off x="502920" y="1417320"/>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4" name="Text 2"/>
          <p:cNvSpPr/>
          <p:nvPr/>
        </p:nvSpPr>
        <p:spPr>
          <a:xfrm>
            <a:off x="731520" y="1527048"/>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Full authentication</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JWT sessions, bcrypt-hashed passwords, session restored from the token alone</a:t>
            </a:r>
            <a:endParaRPr lang="en-US" sz="1500" dirty="0"/>
          </a:p>
        </p:txBody>
      </p:sp>
      <p:sp>
        <p:nvSpPr>
          <p:cNvPr id="5" name="Shape 3"/>
          <p:cNvSpPr/>
          <p:nvPr/>
        </p:nvSpPr>
        <p:spPr>
          <a:xfrm>
            <a:off x="6172200" y="1417320"/>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6" name="Text 4"/>
          <p:cNvSpPr/>
          <p:nvPr/>
        </p:nvSpPr>
        <p:spPr>
          <a:xfrm>
            <a:off x="6400800" y="1527048"/>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Public rooms</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Discover, join, leave — ownership transfers to the oldest member when the owner leaves</a:t>
            </a:r>
            <a:endParaRPr lang="en-US" sz="1500" dirty="0"/>
          </a:p>
        </p:txBody>
      </p:sp>
      <p:sp>
        <p:nvSpPr>
          <p:cNvPr id="7" name="Shape 5"/>
          <p:cNvSpPr/>
          <p:nvPr/>
        </p:nvSpPr>
        <p:spPr>
          <a:xfrm>
            <a:off x="502920" y="2898648"/>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8" name="Text 6"/>
          <p:cNvSpPr/>
          <p:nvPr/>
        </p:nvSpPr>
        <p:spPr>
          <a:xfrm>
            <a:off x="731520" y="3008376"/>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Moderation</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Owners can kick (reversible) or ban (permanent); banned users cannot return</a:t>
            </a:r>
            <a:endParaRPr lang="en-US" sz="1500" dirty="0"/>
          </a:p>
        </p:txBody>
      </p:sp>
      <p:sp>
        <p:nvSpPr>
          <p:cNvPr id="9" name="Shape 7"/>
          <p:cNvSpPr/>
          <p:nvPr/>
        </p:nvSpPr>
        <p:spPr>
          <a:xfrm>
            <a:off x="6172200" y="2898648"/>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10" name="Text 8"/>
          <p:cNvSpPr/>
          <p:nvPr/>
        </p:nvSpPr>
        <p:spPr>
          <a:xfrm>
            <a:off x="6400800" y="3008376"/>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Private conversations</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One-to-one messaging with debounced user search; one conversation per pair, guaranteed by the database</a:t>
            </a:r>
            <a:endParaRPr lang="en-US" sz="1500" dirty="0"/>
          </a:p>
        </p:txBody>
      </p:sp>
      <p:sp>
        <p:nvSpPr>
          <p:cNvPr id="11" name="Shape 9"/>
          <p:cNvSpPr/>
          <p:nvPr/>
        </p:nvSpPr>
        <p:spPr>
          <a:xfrm>
            <a:off x="502920" y="4379976"/>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12" name="Text 10"/>
          <p:cNvSpPr/>
          <p:nvPr/>
        </p:nvSpPr>
        <p:spPr>
          <a:xfrm>
            <a:off x="731520" y="4489704"/>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Real-time messaging</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Authenticated Socket.IO, per-channel broadcast, optimistic sending with acknowledgment</a:t>
            </a:r>
            <a:endParaRPr lang="en-US" sz="1500" dirty="0"/>
          </a:p>
        </p:txBody>
      </p:sp>
      <p:sp>
        <p:nvSpPr>
          <p:cNvPr id="13" name="Shape 11"/>
          <p:cNvSpPr/>
          <p:nvPr/>
        </p:nvSpPr>
        <p:spPr>
          <a:xfrm>
            <a:off x="6172200" y="4379976"/>
            <a:ext cx="5440680" cy="1298448"/>
          </a:xfrm>
          <a:prstGeom prst="roundRect">
            <a:avLst>
              <a:gd name="adj" fmla="val 7042"/>
            </a:avLst>
          </a:prstGeom>
          <a:solidFill>
            <a:srgbClr val="FFFFFF"/>
          </a:solidFill>
          <a:ln/>
          <a:effectLst>
            <a:outerShdw sx="100000" sy="100000" kx="0" ky="0" algn="bl" rotWithShape="0" blurRad="76200" dist="25400" dir="5400000">
              <a:srgbClr val="9CA3AF">
                <a:alpha val="30000"/>
              </a:srgbClr>
            </a:outerShdw>
          </a:effectLst>
        </p:spPr>
      </p:sp>
      <p:sp>
        <p:nvSpPr>
          <p:cNvPr id="14" name="Text 12"/>
          <p:cNvSpPr/>
          <p:nvPr/>
        </p:nvSpPr>
        <p:spPr>
          <a:xfrm>
            <a:off x="6400800" y="4489704"/>
            <a:ext cx="5029200" cy="109728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Paginated history</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Compound-indexed retrieval, 30 messages per page, loaded over REST</a:t>
            </a:r>
            <a:endParaRPr lang="en-US" sz="1500" dirty="0"/>
          </a:p>
        </p:txBody>
      </p:sp>
      <p:sp>
        <p:nvSpPr>
          <p:cNvPr id="15" name="Text 13"/>
          <p:cNvSpPr/>
          <p:nvPr/>
        </p:nvSpPr>
        <p:spPr>
          <a:xfrm>
            <a:off x="502920" y="5989320"/>
            <a:ext cx="10972800" cy="365760"/>
          </a:xfrm>
          <a:prstGeom prst="rect">
            <a:avLst/>
          </a:prstGeom>
          <a:noFill/>
          <a:ln/>
        </p:spPr>
        <p:txBody>
          <a:bodyPr wrap="square" rtlCol="0" anchor="ctr"/>
          <a:lstStyle/>
          <a:p>
            <a:pPr indent="0" marL="0">
              <a:buNone/>
            </a:pPr>
            <a:r>
              <a:rPr lang="en-US" sz="1300" i="1" dirty="0">
                <a:solidFill>
                  <a:srgbClr val="D97706"/>
                </a:solidFill>
                <a:latin typeface="Calibri" pitchFamily="34" charset="0"/>
                <a:ea typeface="Calibri" pitchFamily="34" charset="-122"/>
                <a:cs typeface="Calibri" pitchFamily="34" charset="-120"/>
              </a:rPr>
              <a:t>Design identity: Thoth, Egyptian god of writing — lapis lazuli, gold, papyrus</a:t>
            </a:r>
            <a:endParaRPr lang="en-US" sz="1300" dirty="0"/>
          </a:p>
        </p:txBody>
      </p:sp>
      <p:sp>
        <p:nvSpPr>
          <p:cNvPr id="16" name="Text 14"/>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7" name="Text 15"/>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5294376" y="1417320"/>
            <a:ext cx="1600200" cy="1600200"/>
          </a:xfrm>
          <a:prstGeom prst="roundRect">
            <a:avLst>
              <a:gd name="adj" fmla="val 17143"/>
            </a:avLst>
          </a:prstGeom>
          <a:solidFill>
            <a:srgbClr val="D97706"/>
          </a:solidFill>
          <a:ln/>
        </p:spPr>
      </p:sp>
      <p:sp>
        <p:nvSpPr>
          <p:cNvPr id="3" name="Text 1"/>
          <p:cNvSpPr/>
          <p:nvPr/>
        </p:nvSpPr>
        <p:spPr>
          <a:xfrm>
            <a:off x="5294376" y="1417320"/>
            <a:ext cx="1600200" cy="1600200"/>
          </a:xfrm>
          <a:prstGeom prst="rect">
            <a:avLst/>
          </a:prstGeom>
          <a:noFill/>
          <a:ln/>
        </p:spPr>
        <p:txBody>
          <a:bodyPr wrap="square" rtlCol="0" anchor="ctr"/>
          <a:lstStyle/>
          <a:p>
            <a:pPr algn="ctr" indent="0" marL="0">
              <a:buNone/>
            </a:pPr>
            <a:r>
              <a:rPr lang="en-US" sz="4800" dirty="0">
                <a:solidFill>
                  <a:srgbClr val="FFFBEB"/>
                </a:solidFill>
                <a:latin typeface="Calibri" pitchFamily="34" charset="0"/>
                <a:ea typeface="Calibri" pitchFamily="34" charset="-122"/>
                <a:cs typeface="Calibri" pitchFamily="34" charset="-120"/>
              </a:rPr>
              <a:t>▶</a:t>
            </a:r>
            <a:endParaRPr lang="en-US" sz="4800" dirty="0"/>
          </a:p>
        </p:txBody>
      </p:sp>
      <p:sp>
        <p:nvSpPr>
          <p:cNvPr id="4" name="Text 2"/>
          <p:cNvSpPr/>
          <p:nvPr/>
        </p:nvSpPr>
        <p:spPr>
          <a:xfrm>
            <a:off x="0" y="3246120"/>
            <a:ext cx="12188952" cy="8229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Live demo</a:t>
            </a:r>
            <a:endParaRPr lang="en-US" sz="4400" dirty="0"/>
          </a:p>
        </p:txBody>
      </p:sp>
      <p:sp>
        <p:nvSpPr>
          <p:cNvPr id="5" name="Text 3"/>
          <p:cNvSpPr/>
          <p:nvPr/>
        </p:nvSpPr>
        <p:spPr>
          <a:xfrm>
            <a:off x="0" y="4114800"/>
            <a:ext cx="12188952" cy="457200"/>
          </a:xfrm>
          <a:prstGeom prst="rect">
            <a:avLst/>
          </a:prstGeom>
          <a:noFill/>
          <a:ln/>
        </p:spPr>
        <p:txBody>
          <a:bodyPr wrap="square" rtlCol="0" anchor="ctr"/>
          <a:lstStyle/>
          <a:p>
            <a:pPr algn="ctr" indent="0" marL="0">
              <a:buNone/>
            </a:pPr>
            <a:r>
              <a:rPr lang="en-US" sz="1800" i="1" dirty="0">
                <a:solidFill>
                  <a:srgbClr val="C7C9F0"/>
                </a:solidFill>
                <a:latin typeface="Calibri" pitchFamily="34" charset="0"/>
                <a:ea typeface="Calibri" pitchFamily="34" charset="-122"/>
                <a:cs typeface="Calibri" pitchFamily="34" charset="-120"/>
              </a:rPr>
              <a:t>Two accounts, two windows — watch the messages travel</a:t>
            </a:r>
            <a:endParaRPr lang="en-US" sz="1800" dirty="0"/>
          </a:p>
        </p:txBody>
      </p:sp>
      <p:sp>
        <p:nvSpPr>
          <p:cNvPr id="6" name="Text 4"/>
          <p:cNvSpPr/>
          <p:nvPr/>
        </p:nvSpPr>
        <p:spPr>
          <a:xfrm>
            <a:off x="731520" y="5029200"/>
            <a:ext cx="10725912" cy="457200"/>
          </a:xfrm>
          <a:prstGeom prst="rect">
            <a:avLst/>
          </a:prstGeom>
          <a:noFill/>
          <a:ln/>
        </p:spPr>
        <p:txBody>
          <a:bodyPr wrap="square" rtlCol="0" anchor="ctr"/>
          <a:lstStyle/>
          <a:p>
            <a:pPr algn="ctr" indent="0" marL="0">
              <a:buNone/>
            </a:pPr>
            <a:r>
              <a:rPr lang="en-US" sz="1400" dirty="0">
                <a:solidFill>
                  <a:srgbClr val="D97706"/>
                </a:solidFill>
                <a:latin typeface="Calibri" pitchFamily="34" charset="0"/>
                <a:ea typeface="Calibri" pitchFamily="34" charset="-122"/>
                <a:cs typeface="Calibri" pitchFamily="34" charset="-120"/>
              </a:rPr>
              <a:t>Register  →  Create a room  →  Join from the second account  →  Real-time exchange  →  Kick &amp; ban  →  API docs</a:t>
            </a:r>
            <a:endParaRPr lang="en-US" sz="1400" dirty="0"/>
          </a:p>
        </p:txBody>
      </p:sp>
      <p:sp>
        <p:nvSpPr>
          <p:cNvPr id="7" name="Text 5"/>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8" name="Text 6"/>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365760"/>
            <a:ext cx="8229600" cy="594360"/>
          </a:xfrm>
          <a:prstGeom prst="rect">
            <a:avLst/>
          </a:prstGeom>
          <a:noFill/>
          <a:ln/>
        </p:spPr>
        <p:txBody>
          <a:bodyPr wrap="square" rtlCol="0" anchor="ctr"/>
          <a:lstStyle/>
          <a:p>
            <a:pPr indent="0" marL="0">
              <a:buNone/>
            </a:pPr>
            <a:r>
              <a:rPr lang="en-US" sz="3400" b="1" dirty="0">
                <a:solidFill>
                  <a:srgbClr val="312E81"/>
                </a:solidFill>
                <a:latin typeface="Calibri" pitchFamily="34" charset="0"/>
                <a:ea typeface="Calibri" pitchFamily="34" charset="-122"/>
                <a:cs typeface="Calibri" pitchFamily="34" charset="-120"/>
              </a:rPr>
              <a:t>Architecture</a:t>
            </a:r>
            <a:endParaRPr lang="en-US" sz="3400" dirty="0"/>
          </a:p>
        </p:txBody>
      </p:sp>
      <p:sp>
        <p:nvSpPr>
          <p:cNvPr id="3" name="Shape 1"/>
          <p:cNvSpPr/>
          <p:nvPr/>
        </p:nvSpPr>
        <p:spPr>
          <a:xfrm>
            <a:off x="731520" y="1280160"/>
            <a:ext cx="3108960" cy="1554480"/>
          </a:xfrm>
          <a:prstGeom prst="roundRect">
            <a:avLst>
              <a:gd name="adj" fmla="val 5882"/>
            </a:avLst>
          </a:prstGeom>
          <a:solidFill>
            <a:srgbClr val="FFFFFF"/>
          </a:solidFill>
          <a:ln w="19050">
            <a:solidFill>
              <a:srgbClr val="312E81"/>
            </a:solidFill>
            <a:prstDash val="solid"/>
          </a:ln>
        </p:spPr>
      </p:sp>
      <p:sp>
        <p:nvSpPr>
          <p:cNvPr id="4" name="Text 2"/>
          <p:cNvSpPr/>
          <p:nvPr/>
        </p:nvSpPr>
        <p:spPr>
          <a:xfrm>
            <a:off x="914400" y="1463040"/>
            <a:ext cx="2743200" cy="118872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Browser (SPA)</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React 18 + Vite + Tailwind</a:t>
            </a:r>
            <a:endParaRPr lang="en-US" sz="1500" dirty="0"/>
          </a:p>
          <a:p>
            <a:pPr indent="0" marL="0">
              <a:buNone/>
            </a:pPr>
            <a:r>
              <a:rPr lang="en-US" sz="1200" dirty="0">
                <a:solidFill>
                  <a:srgbClr val="6B7280"/>
                </a:solidFill>
                <a:latin typeface="Calibri" pitchFamily="34" charset="0"/>
                <a:ea typeface="Calibri" pitchFamily="34" charset="-122"/>
                <a:cs typeface="Calibri" pitchFamily="34" charset="-120"/>
              </a:rPr>
              <a:t>Served by Vercel CDN</a:t>
            </a:r>
            <a:endParaRPr lang="en-US" sz="1500" dirty="0"/>
          </a:p>
        </p:txBody>
      </p:sp>
      <p:sp>
        <p:nvSpPr>
          <p:cNvPr id="5" name="Shape 3"/>
          <p:cNvSpPr/>
          <p:nvPr/>
        </p:nvSpPr>
        <p:spPr>
          <a:xfrm>
            <a:off x="4663440" y="1051560"/>
            <a:ext cx="3566160" cy="3200400"/>
          </a:xfrm>
          <a:prstGeom prst="roundRect">
            <a:avLst>
              <a:gd name="adj" fmla="val 2857"/>
            </a:avLst>
          </a:prstGeom>
          <a:solidFill>
            <a:srgbClr val="312E81"/>
          </a:solidFill>
          <a:ln/>
        </p:spPr>
      </p:sp>
      <p:sp>
        <p:nvSpPr>
          <p:cNvPr id="6" name="Text 4"/>
          <p:cNvSpPr/>
          <p:nvPr/>
        </p:nvSpPr>
        <p:spPr>
          <a:xfrm>
            <a:off x="4892040" y="1280160"/>
            <a:ext cx="3200400" cy="12344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Node.js backend — Render (Docker)</a:t>
            </a:r>
            <a:endParaRPr lang="en-US" sz="1400" dirty="0"/>
          </a:p>
          <a:p>
            <a:pPr indent="0" marL="0">
              <a:buNone/>
            </a:pPr>
            <a:r>
              <a:rPr lang="en-US" sz="1250" dirty="0">
                <a:solidFill>
                  <a:srgbClr val="C7C9F0"/>
                </a:solidFill>
                <a:latin typeface="Calibri" pitchFamily="34" charset="0"/>
                <a:ea typeface="Calibri" pitchFamily="34" charset="-122"/>
                <a:cs typeface="Calibri" pitchFamily="34" charset="-120"/>
              </a:rPr>
              <a:t>Express REST  +  Socket.IO</a:t>
            </a:r>
            <a:endParaRPr lang="en-US" sz="1400" dirty="0"/>
          </a:p>
          <a:p>
            <a:pPr indent="0" marL="0">
              <a:buNone/>
            </a:pPr>
            <a:r>
              <a:rPr lang="en-US" sz="1250" dirty="0">
                <a:solidFill>
                  <a:srgbClr val="C7C9F0"/>
                </a:solidFill>
                <a:latin typeface="Calibri" pitchFamily="34" charset="0"/>
                <a:ea typeface="Calibri" pitchFamily="34" charset="-122"/>
                <a:cs typeface="Calibri" pitchFamily="34" charset="-120"/>
              </a:rPr>
              <a:t>routes → controllers →</a:t>
            </a:r>
            <a:endParaRPr lang="en-US" sz="1400" dirty="0"/>
          </a:p>
        </p:txBody>
      </p:sp>
      <p:sp>
        <p:nvSpPr>
          <p:cNvPr id="7" name="Shape 5"/>
          <p:cNvSpPr/>
          <p:nvPr/>
        </p:nvSpPr>
        <p:spPr>
          <a:xfrm>
            <a:off x="4983480" y="2606040"/>
            <a:ext cx="2926080" cy="685800"/>
          </a:xfrm>
          <a:prstGeom prst="roundRect">
            <a:avLst>
              <a:gd name="adj" fmla="val 10667"/>
            </a:avLst>
          </a:prstGeom>
          <a:solidFill>
            <a:srgbClr val="D97706"/>
          </a:solidFill>
          <a:ln/>
        </p:spPr>
      </p:sp>
      <p:sp>
        <p:nvSpPr>
          <p:cNvPr id="8" name="Text 6"/>
          <p:cNvSpPr/>
          <p:nvPr/>
        </p:nvSpPr>
        <p:spPr>
          <a:xfrm>
            <a:off x="4983480" y="2606040"/>
            <a:ext cx="2926080" cy="685800"/>
          </a:xfrm>
          <a:prstGeom prst="rect">
            <a:avLst/>
          </a:prstGeom>
          <a:noFill/>
          <a:ln/>
        </p:spPr>
        <p:txBody>
          <a:bodyPr wrap="square" rtlCol="0" anchor="ctr"/>
          <a:lstStyle/>
          <a:p>
            <a:pPr algn="ctr" indent="0" marL="0">
              <a:buNone/>
            </a:pPr>
            <a:r>
              <a:rPr lang="en-US" sz="1400" b="1" dirty="0">
                <a:solidFill>
                  <a:srgbClr val="FFFBEB"/>
                </a:solidFill>
                <a:latin typeface="Calibri" pitchFamily="34" charset="0"/>
                <a:ea typeface="Calibri" pitchFamily="34" charset="-122"/>
                <a:cs typeface="Calibri" pitchFamily="34" charset="-120"/>
              </a:rPr>
              <a:t>★ shared service layer ★</a:t>
            </a:r>
            <a:endParaRPr lang="en-US" sz="1400" dirty="0"/>
          </a:p>
        </p:txBody>
      </p:sp>
      <p:sp>
        <p:nvSpPr>
          <p:cNvPr id="9" name="Text 7"/>
          <p:cNvSpPr/>
          <p:nvPr/>
        </p:nvSpPr>
        <p:spPr>
          <a:xfrm>
            <a:off x="4892040" y="3429000"/>
            <a:ext cx="3200400" cy="365760"/>
          </a:xfrm>
          <a:prstGeom prst="rect">
            <a:avLst/>
          </a:prstGeom>
          <a:noFill/>
          <a:ln/>
        </p:spPr>
        <p:txBody>
          <a:bodyPr wrap="square" rtlCol="0" anchor="ctr"/>
          <a:lstStyle/>
          <a:p>
            <a:pPr indent="0" marL="0">
              <a:buNone/>
            </a:pPr>
            <a:r>
              <a:rPr lang="en-US" sz="1250" dirty="0">
                <a:solidFill>
                  <a:srgbClr val="C7C9F0"/>
                </a:solidFill>
                <a:latin typeface="Calibri" pitchFamily="34" charset="0"/>
                <a:ea typeface="Calibri" pitchFamily="34" charset="-122"/>
                <a:cs typeface="Calibri" pitchFamily="34" charset="-120"/>
              </a:rPr>
              <a:t>→ Mongoose models</a:t>
            </a:r>
            <a:endParaRPr lang="en-US" sz="1250" dirty="0"/>
          </a:p>
        </p:txBody>
      </p:sp>
      <p:sp>
        <p:nvSpPr>
          <p:cNvPr id="10" name="Shape 8"/>
          <p:cNvSpPr/>
          <p:nvPr/>
        </p:nvSpPr>
        <p:spPr>
          <a:xfrm>
            <a:off x="9052560" y="1737360"/>
            <a:ext cx="2468880" cy="1554480"/>
          </a:xfrm>
          <a:prstGeom prst="roundRect">
            <a:avLst>
              <a:gd name="adj" fmla="val 5882"/>
            </a:avLst>
          </a:prstGeom>
          <a:solidFill>
            <a:srgbClr val="FFFFFF"/>
          </a:solidFill>
          <a:ln w="19050">
            <a:solidFill>
              <a:srgbClr val="059669"/>
            </a:solidFill>
            <a:prstDash val="solid"/>
          </a:ln>
        </p:spPr>
      </p:sp>
      <p:sp>
        <p:nvSpPr>
          <p:cNvPr id="11" name="Text 9"/>
          <p:cNvSpPr/>
          <p:nvPr/>
        </p:nvSpPr>
        <p:spPr>
          <a:xfrm>
            <a:off x="9235440" y="1920240"/>
            <a:ext cx="2103120" cy="1188720"/>
          </a:xfrm>
          <a:prstGeom prst="rect">
            <a:avLst/>
          </a:prstGeom>
          <a:noFill/>
          <a:ln/>
        </p:spPr>
        <p:txBody>
          <a:bodyPr wrap="square" rtlCol="0" anchor="ctr"/>
          <a:lstStyle/>
          <a:p>
            <a:pPr indent="0" marL="0">
              <a:buNone/>
            </a:pPr>
            <a:r>
              <a:rPr lang="en-US" sz="1500" b="1" dirty="0">
                <a:solidFill>
                  <a:srgbClr val="059669"/>
                </a:solidFill>
                <a:latin typeface="Calibri" pitchFamily="34" charset="0"/>
                <a:ea typeface="Calibri" pitchFamily="34" charset="-122"/>
                <a:cs typeface="Calibri" pitchFamily="34" charset="-120"/>
              </a:rPr>
              <a:t>MongoDB Atlas</a:t>
            </a:r>
            <a:endParaRPr lang="en-US" sz="1500" dirty="0"/>
          </a:p>
          <a:p>
            <a:pPr indent="0" marL="0">
              <a:buNone/>
            </a:pPr>
            <a:r>
              <a:rPr lang="en-US" sz="1150" dirty="0">
                <a:solidFill>
                  <a:srgbClr val="6B7280"/>
                </a:solidFill>
                <a:latin typeface="Calibri" pitchFamily="34" charset="0"/>
                <a:ea typeface="Calibri" pitchFamily="34" charset="-122"/>
                <a:cs typeface="Calibri" pitchFamily="34" charset="-120"/>
              </a:rPr>
              <a:t>users · rooms · conversations · messages</a:t>
            </a:r>
            <a:endParaRPr lang="en-US" sz="1500" dirty="0"/>
          </a:p>
        </p:txBody>
      </p:sp>
      <p:sp>
        <p:nvSpPr>
          <p:cNvPr id="12" name="Text 10"/>
          <p:cNvSpPr/>
          <p:nvPr/>
        </p:nvSpPr>
        <p:spPr>
          <a:xfrm>
            <a:off x="3291840" y="1481328"/>
            <a:ext cx="1737360" cy="27432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HTTPS (REST)</a:t>
            </a:r>
            <a:endParaRPr lang="en-US" sz="1050" dirty="0"/>
          </a:p>
        </p:txBody>
      </p:sp>
      <p:sp>
        <p:nvSpPr>
          <p:cNvPr id="13" name="Shape 11"/>
          <p:cNvSpPr/>
          <p:nvPr/>
        </p:nvSpPr>
        <p:spPr>
          <a:xfrm>
            <a:off x="3840480" y="1828800"/>
            <a:ext cx="822960" cy="0"/>
          </a:xfrm>
          <a:prstGeom prst="line">
            <a:avLst/>
          </a:prstGeom>
          <a:noFill/>
          <a:ln w="25400">
            <a:solidFill>
              <a:srgbClr val="6B7280"/>
            </a:solidFill>
            <a:prstDash val="solid"/>
            <a:tailEnd type="arrow"/>
          </a:ln>
        </p:spPr>
      </p:sp>
      <p:sp>
        <p:nvSpPr>
          <p:cNvPr id="14" name="Text 12"/>
          <p:cNvSpPr/>
          <p:nvPr/>
        </p:nvSpPr>
        <p:spPr>
          <a:xfrm>
            <a:off x="2880360" y="2514600"/>
            <a:ext cx="2377440" cy="411480"/>
          </a:xfrm>
          <a:prstGeom prst="rect">
            <a:avLst/>
          </a:prstGeom>
          <a:noFill/>
          <a:ln/>
        </p:spPr>
        <p:txBody>
          <a:bodyPr wrap="square" rtlCol="0" anchor="ctr"/>
          <a:lstStyle/>
          <a:p>
            <a:pPr algn="ctr" indent="0" marL="0">
              <a:buNone/>
            </a:pPr>
            <a:r>
              <a:rPr lang="en-US" sz="1050" dirty="0">
                <a:solidFill>
                  <a:srgbClr val="D97706"/>
                </a:solidFill>
                <a:latin typeface="Calibri" pitchFamily="34" charset="0"/>
                <a:ea typeface="Calibri" pitchFamily="34" charset="-122"/>
                <a:cs typeface="Calibri" pitchFamily="34" charset="-120"/>
              </a:rPr>
              <a:t>WSS (Socket.IO, JWT handshake)</a:t>
            </a:r>
            <a:endParaRPr lang="en-US" sz="1050" dirty="0"/>
          </a:p>
        </p:txBody>
      </p:sp>
      <p:sp>
        <p:nvSpPr>
          <p:cNvPr id="15" name="Shape 13"/>
          <p:cNvSpPr/>
          <p:nvPr/>
        </p:nvSpPr>
        <p:spPr>
          <a:xfrm>
            <a:off x="3840480" y="2423160"/>
            <a:ext cx="822960" cy="0"/>
          </a:xfrm>
          <a:prstGeom prst="line">
            <a:avLst/>
          </a:prstGeom>
          <a:noFill/>
          <a:ln w="25400">
            <a:solidFill>
              <a:srgbClr val="D97706"/>
            </a:solidFill>
            <a:prstDash val="solid"/>
            <a:tailEnd type="arrow"/>
          </a:ln>
        </p:spPr>
      </p:sp>
      <p:sp>
        <p:nvSpPr>
          <p:cNvPr id="16" name="Shape 14"/>
          <p:cNvSpPr/>
          <p:nvPr/>
        </p:nvSpPr>
        <p:spPr>
          <a:xfrm>
            <a:off x="8229600" y="2514600"/>
            <a:ext cx="822960" cy="0"/>
          </a:xfrm>
          <a:prstGeom prst="line">
            <a:avLst/>
          </a:prstGeom>
          <a:noFill/>
          <a:ln w="25400">
            <a:solidFill>
              <a:srgbClr val="059669"/>
            </a:solidFill>
            <a:prstDash val="solid"/>
            <a:tailEnd type="arrow"/>
          </a:ln>
        </p:spPr>
      </p:sp>
      <p:sp>
        <p:nvSpPr>
          <p:cNvPr id="17" name="Shape 15"/>
          <p:cNvSpPr/>
          <p:nvPr/>
        </p:nvSpPr>
        <p:spPr>
          <a:xfrm>
            <a:off x="502920" y="4572000"/>
            <a:ext cx="11183112" cy="1600200"/>
          </a:xfrm>
          <a:prstGeom prst="roundRect">
            <a:avLst>
              <a:gd name="adj" fmla="val 5714"/>
            </a:avLst>
          </a:prstGeom>
          <a:solidFill>
            <a:srgbClr val="FFFFFF"/>
          </a:solidFill>
          <a:ln/>
          <a:effectLst>
            <a:outerShdw sx="100000" sy="100000" kx="0" ky="0" algn="bl" rotWithShape="0" blurRad="76200" dist="25400" dir="5400000">
              <a:srgbClr val="9CA3AF">
                <a:alpha val="30000"/>
              </a:srgbClr>
            </a:outerShdw>
          </a:effectLst>
        </p:spPr>
      </p:sp>
      <p:sp>
        <p:nvSpPr>
          <p:cNvPr id="18" name="Text 16"/>
          <p:cNvSpPr/>
          <p:nvPr/>
        </p:nvSpPr>
        <p:spPr>
          <a:xfrm>
            <a:off x="777240" y="4754880"/>
            <a:ext cx="10607040" cy="1280160"/>
          </a:xfrm>
          <a:prstGeom prst="rect">
            <a:avLst/>
          </a:prstGeom>
          <a:noFill/>
          <a:ln/>
        </p:spPr>
        <p:txBody>
          <a:bodyPr wrap="square" rtlCol="0" anchor="ctr"/>
          <a:lstStyle/>
          <a:p>
            <a:pPr indent="0" marL="0">
              <a:buNone/>
            </a:pPr>
            <a:r>
              <a:rPr lang="en-US" sz="1450" b="1" dirty="0">
                <a:solidFill>
                  <a:srgbClr val="312E81"/>
                </a:solidFill>
                <a:latin typeface="Calibri" pitchFamily="34" charset="0"/>
                <a:ea typeface="Calibri" pitchFamily="34" charset="-122"/>
                <a:cs typeface="Calibri" pitchFamily="34" charset="-120"/>
              </a:rPr>
              <a:t>Why the shared service layer matters</a:t>
            </a:r>
            <a:endParaRPr lang="en-US" sz="1450" dirty="0"/>
          </a:p>
          <a:p>
            <a:pPr indent="0" marL="0">
              <a:buNone/>
            </a:pPr>
            <a:r>
              <a:rPr lang="en-US" sz="1250" dirty="0">
                <a:solidFill>
                  <a:srgbClr val="1F2937"/>
                </a:solidFill>
                <a:latin typeface="Calibri" pitchFamily="34" charset="0"/>
                <a:ea typeface="Calibri" pitchFamily="34" charset="-122"/>
                <a:cs typeface="Calibri" pitchFamily="34" charset="-120"/>
              </a:rPr>
              <a:t>REST controllers and socket handlers call the same functions — authorization is written once, enforced identically on both channels. The classic real-time flaw (socket path bypassing HTTP checks) is impossible by construction. Other pillars: REST for state / sockets for events · token-only client storage · the URL as navigation state.</a:t>
            </a:r>
            <a:endParaRPr lang="en-US" sz="1450" dirty="0"/>
          </a:p>
        </p:txBody>
      </p:sp>
      <p:sp>
        <p:nvSpPr>
          <p:cNvPr id="19" name="Text 17"/>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20" name="Text 18"/>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10972800" cy="640080"/>
          </a:xfrm>
          <a:prstGeom prst="rect">
            <a:avLst/>
          </a:prstGeom>
          <a:noFill/>
          <a:ln/>
        </p:spPr>
        <p:txBody>
          <a:bodyPr wrap="square" rtlCol="0" anchor="ctr"/>
          <a:lstStyle/>
          <a:p>
            <a:pPr indent="0" marL="0">
              <a:buNone/>
            </a:pPr>
            <a:r>
              <a:rPr lang="en-US" sz="3200" b="1" dirty="0">
                <a:solidFill>
                  <a:srgbClr val="312E81"/>
                </a:solidFill>
                <a:latin typeface="Calibri" pitchFamily="34" charset="0"/>
                <a:ea typeface="Calibri" pitchFamily="34" charset="-122"/>
                <a:cs typeface="Calibri" pitchFamily="34" charset="-120"/>
              </a:rPr>
              <a:t>Technology choices — each one justified</a:t>
            </a:r>
            <a:endParaRPr lang="en-US" sz="3200" dirty="0"/>
          </a:p>
        </p:txBody>
      </p:sp>
      <p:sp>
        <p:nvSpPr>
          <p:cNvPr id="3" name="Shape 1"/>
          <p:cNvSpPr/>
          <p:nvPr/>
        </p:nvSpPr>
        <p:spPr>
          <a:xfrm>
            <a:off x="502920" y="1371600"/>
            <a:ext cx="11183112" cy="566928"/>
          </a:xfrm>
          <a:prstGeom prst="roundRect">
            <a:avLst>
              <a:gd name="adj" fmla="val 9677"/>
            </a:avLst>
          </a:prstGeom>
          <a:solidFill>
            <a:srgbClr val="FFFFFF"/>
          </a:solidFill>
          <a:ln/>
        </p:spPr>
      </p:sp>
      <p:sp>
        <p:nvSpPr>
          <p:cNvPr id="4" name="Text 2"/>
          <p:cNvSpPr/>
          <p:nvPr/>
        </p:nvSpPr>
        <p:spPr>
          <a:xfrm>
            <a:off x="731520" y="1408176"/>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React 18 + Vite + Tailwind v4</a:t>
            </a:r>
            <a:endParaRPr lang="en-US" sz="1350" dirty="0"/>
          </a:p>
        </p:txBody>
      </p:sp>
      <p:sp>
        <p:nvSpPr>
          <p:cNvPr id="5" name="Text 3"/>
          <p:cNvSpPr/>
          <p:nvPr/>
        </p:nvSpPr>
        <p:spPr>
          <a:xfrm>
            <a:off x="4434840" y="1408176"/>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Component model for chat UIs; the design system is encoded in the theme</a:t>
            </a:r>
            <a:endParaRPr lang="en-US" sz="1250" dirty="0"/>
          </a:p>
        </p:txBody>
      </p:sp>
      <p:sp>
        <p:nvSpPr>
          <p:cNvPr id="6" name="Shape 4"/>
          <p:cNvSpPr/>
          <p:nvPr/>
        </p:nvSpPr>
        <p:spPr>
          <a:xfrm>
            <a:off x="502920" y="2029968"/>
            <a:ext cx="11183112" cy="566928"/>
          </a:xfrm>
          <a:prstGeom prst="roundRect">
            <a:avLst>
              <a:gd name="adj" fmla="val 9677"/>
            </a:avLst>
          </a:prstGeom>
          <a:solidFill>
            <a:srgbClr val="FAF9F6"/>
          </a:solidFill>
          <a:ln/>
        </p:spPr>
      </p:sp>
      <p:sp>
        <p:nvSpPr>
          <p:cNvPr id="7" name="Text 5"/>
          <p:cNvSpPr/>
          <p:nvPr/>
        </p:nvSpPr>
        <p:spPr>
          <a:xfrm>
            <a:off x="731520" y="2066544"/>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Node.js + Express</a:t>
            </a:r>
            <a:endParaRPr lang="en-US" sz="1350" dirty="0"/>
          </a:p>
        </p:txBody>
      </p:sp>
      <p:sp>
        <p:nvSpPr>
          <p:cNvPr id="8" name="Text 6"/>
          <p:cNvSpPr/>
          <p:nvPr/>
        </p:nvSpPr>
        <p:spPr>
          <a:xfrm>
            <a:off x="4434840" y="2066544"/>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One language across the stack; middleware chain = security pipeline</a:t>
            </a:r>
            <a:endParaRPr lang="en-US" sz="1250" dirty="0"/>
          </a:p>
        </p:txBody>
      </p:sp>
      <p:sp>
        <p:nvSpPr>
          <p:cNvPr id="9" name="Shape 7"/>
          <p:cNvSpPr/>
          <p:nvPr/>
        </p:nvSpPr>
        <p:spPr>
          <a:xfrm>
            <a:off x="502920" y="2688336"/>
            <a:ext cx="11183112" cy="566928"/>
          </a:xfrm>
          <a:prstGeom prst="roundRect">
            <a:avLst>
              <a:gd name="adj" fmla="val 9677"/>
            </a:avLst>
          </a:prstGeom>
          <a:solidFill>
            <a:srgbClr val="FFFFFF"/>
          </a:solidFill>
          <a:ln/>
        </p:spPr>
      </p:sp>
      <p:sp>
        <p:nvSpPr>
          <p:cNvPr id="10" name="Text 8"/>
          <p:cNvSpPr/>
          <p:nvPr/>
        </p:nvSpPr>
        <p:spPr>
          <a:xfrm>
            <a:off x="731520" y="2724912"/>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Socket.IO</a:t>
            </a:r>
            <a:endParaRPr lang="en-US" sz="1350" dirty="0"/>
          </a:p>
        </p:txBody>
      </p:sp>
      <p:sp>
        <p:nvSpPr>
          <p:cNvPr id="11" name="Text 9"/>
          <p:cNvSpPr/>
          <p:nvPr/>
        </p:nvSpPr>
        <p:spPr>
          <a:xfrm>
            <a:off x="4434840" y="2724912"/>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Adopted after testing raw WebSocket: rooms, acks, reconnection, fallback — each answers a wall I hit experimentally</a:t>
            </a:r>
            <a:endParaRPr lang="en-US" sz="1250" dirty="0"/>
          </a:p>
        </p:txBody>
      </p:sp>
      <p:sp>
        <p:nvSpPr>
          <p:cNvPr id="12" name="Shape 10"/>
          <p:cNvSpPr/>
          <p:nvPr/>
        </p:nvSpPr>
        <p:spPr>
          <a:xfrm>
            <a:off x="502920" y="3346704"/>
            <a:ext cx="11183112" cy="566928"/>
          </a:xfrm>
          <a:prstGeom prst="roundRect">
            <a:avLst>
              <a:gd name="adj" fmla="val 9677"/>
            </a:avLst>
          </a:prstGeom>
          <a:solidFill>
            <a:srgbClr val="FAF9F6"/>
          </a:solidFill>
          <a:ln/>
        </p:spPr>
      </p:sp>
      <p:sp>
        <p:nvSpPr>
          <p:cNvPr id="13" name="Text 11"/>
          <p:cNvSpPr/>
          <p:nvPr/>
        </p:nvSpPr>
        <p:spPr>
          <a:xfrm>
            <a:off x="731520" y="3383280"/>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MongoDB Atlas + Mongoose</a:t>
            </a:r>
            <a:endParaRPr lang="en-US" sz="1350" dirty="0"/>
          </a:p>
        </p:txBody>
      </p:sp>
      <p:sp>
        <p:nvSpPr>
          <p:cNvPr id="14" name="Text 12"/>
          <p:cNvSpPr/>
          <p:nvPr/>
        </p:nvSpPr>
        <p:spPr>
          <a:xfrm>
            <a:off x="4434840" y="3383280"/>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Document profile of chat data; compound indexes make pagination logarithmic</a:t>
            </a:r>
            <a:endParaRPr lang="en-US" sz="1250" dirty="0"/>
          </a:p>
        </p:txBody>
      </p:sp>
      <p:sp>
        <p:nvSpPr>
          <p:cNvPr id="15" name="Shape 13"/>
          <p:cNvSpPr/>
          <p:nvPr/>
        </p:nvSpPr>
        <p:spPr>
          <a:xfrm>
            <a:off x="502920" y="4005072"/>
            <a:ext cx="11183112" cy="566928"/>
          </a:xfrm>
          <a:prstGeom prst="roundRect">
            <a:avLst>
              <a:gd name="adj" fmla="val 9677"/>
            </a:avLst>
          </a:prstGeom>
          <a:solidFill>
            <a:srgbClr val="FFFFFF"/>
          </a:solidFill>
          <a:ln/>
        </p:spPr>
      </p:sp>
      <p:sp>
        <p:nvSpPr>
          <p:cNvPr id="16" name="Text 14"/>
          <p:cNvSpPr/>
          <p:nvPr/>
        </p:nvSpPr>
        <p:spPr>
          <a:xfrm>
            <a:off x="731520" y="4041648"/>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JWT + bcrypt</a:t>
            </a:r>
            <a:endParaRPr lang="en-US" sz="1350" dirty="0"/>
          </a:p>
        </p:txBody>
      </p:sp>
      <p:sp>
        <p:nvSpPr>
          <p:cNvPr id="17" name="Text 15"/>
          <p:cNvSpPr/>
          <p:nvPr/>
        </p:nvSpPr>
        <p:spPr>
          <a:xfrm>
            <a:off x="4434840" y="4041648"/>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Stateless sessions — no session store to scale</a:t>
            </a:r>
            <a:endParaRPr lang="en-US" sz="1250" dirty="0"/>
          </a:p>
        </p:txBody>
      </p:sp>
      <p:sp>
        <p:nvSpPr>
          <p:cNvPr id="18" name="Shape 16"/>
          <p:cNvSpPr/>
          <p:nvPr/>
        </p:nvSpPr>
        <p:spPr>
          <a:xfrm>
            <a:off x="502920" y="4663440"/>
            <a:ext cx="11183112" cy="566928"/>
          </a:xfrm>
          <a:prstGeom prst="roundRect">
            <a:avLst>
              <a:gd name="adj" fmla="val 9677"/>
            </a:avLst>
          </a:prstGeom>
          <a:solidFill>
            <a:srgbClr val="FAF9F6"/>
          </a:solidFill>
          <a:ln/>
        </p:spPr>
      </p:sp>
      <p:sp>
        <p:nvSpPr>
          <p:cNvPr id="19" name="Text 17"/>
          <p:cNvSpPr/>
          <p:nvPr/>
        </p:nvSpPr>
        <p:spPr>
          <a:xfrm>
            <a:off x="731520" y="4700016"/>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Jest + Supertest + in-memory MongoDB</a:t>
            </a:r>
            <a:endParaRPr lang="en-US" sz="1350" dirty="0"/>
          </a:p>
        </p:txBody>
      </p:sp>
      <p:sp>
        <p:nvSpPr>
          <p:cNvPr id="20" name="Text 18"/>
          <p:cNvSpPr/>
          <p:nvPr/>
        </p:nvSpPr>
        <p:spPr>
          <a:xfrm>
            <a:off x="4434840" y="4700016"/>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Real database behavior, total isolation, zero secrets in CI</a:t>
            </a:r>
            <a:endParaRPr lang="en-US" sz="1250" dirty="0"/>
          </a:p>
        </p:txBody>
      </p:sp>
      <p:sp>
        <p:nvSpPr>
          <p:cNvPr id="21" name="Shape 19"/>
          <p:cNvSpPr/>
          <p:nvPr/>
        </p:nvSpPr>
        <p:spPr>
          <a:xfrm>
            <a:off x="502920" y="5321808"/>
            <a:ext cx="11183112" cy="566928"/>
          </a:xfrm>
          <a:prstGeom prst="roundRect">
            <a:avLst>
              <a:gd name="adj" fmla="val 9677"/>
            </a:avLst>
          </a:prstGeom>
          <a:solidFill>
            <a:srgbClr val="FFFFFF"/>
          </a:solidFill>
          <a:ln/>
        </p:spPr>
      </p:sp>
      <p:sp>
        <p:nvSpPr>
          <p:cNvPr id="22" name="Text 20"/>
          <p:cNvSpPr/>
          <p:nvPr/>
        </p:nvSpPr>
        <p:spPr>
          <a:xfrm>
            <a:off x="731520" y="5358384"/>
            <a:ext cx="3566160" cy="493776"/>
          </a:xfrm>
          <a:prstGeom prst="rect">
            <a:avLst/>
          </a:prstGeom>
          <a:noFill/>
          <a:ln/>
        </p:spPr>
        <p:txBody>
          <a:bodyPr wrap="square" rtlCol="0" anchor="ctr"/>
          <a:lstStyle/>
          <a:p>
            <a:pPr indent="0" marL="0">
              <a:buNone/>
            </a:pPr>
            <a:r>
              <a:rPr lang="en-US" sz="1350" b="1" dirty="0">
                <a:solidFill>
                  <a:srgbClr val="312E81"/>
                </a:solidFill>
                <a:latin typeface="Calibri" pitchFamily="34" charset="0"/>
                <a:ea typeface="Calibri" pitchFamily="34" charset="-122"/>
                <a:cs typeface="Calibri" pitchFamily="34" charset="-120"/>
              </a:rPr>
              <a:t>Docker + GitHub Actions</a:t>
            </a:r>
            <a:endParaRPr lang="en-US" sz="1350" dirty="0"/>
          </a:p>
        </p:txBody>
      </p:sp>
      <p:sp>
        <p:nvSpPr>
          <p:cNvPr id="23" name="Text 21"/>
          <p:cNvSpPr/>
          <p:nvPr/>
        </p:nvSpPr>
        <p:spPr>
          <a:xfrm>
            <a:off x="4434840" y="5358384"/>
            <a:ext cx="7132320" cy="493776"/>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Reproducible environment in one command; tests run on every push</a:t>
            </a:r>
            <a:endParaRPr lang="en-US" sz="1250" dirty="0"/>
          </a:p>
        </p:txBody>
      </p:sp>
      <p:sp>
        <p:nvSpPr>
          <p:cNvPr id="24" name="Text 22"/>
          <p:cNvSpPr/>
          <p:nvPr/>
        </p:nvSpPr>
        <p:spPr>
          <a:xfrm>
            <a:off x="502920" y="6126480"/>
            <a:ext cx="1097280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Deliberately deferred: TypeScript and schema-first validation — documented as v2 evolutions</a:t>
            </a:r>
            <a:endParaRPr lang="en-US" sz="1200" dirty="0"/>
          </a:p>
        </p:txBody>
      </p:sp>
      <p:sp>
        <p:nvSpPr>
          <p:cNvPr id="25" name="Text 23"/>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26" name="Text 24"/>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8229600" cy="640080"/>
          </a:xfrm>
          <a:prstGeom prst="rect">
            <a:avLst/>
          </a:prstGeom>
          <a:noFill/>
          <a:ln/>
        </p:spPr>
        <p:txBody>
          <a:bodyPr wrap="square" rtlCol="0" anchor="ctr"/>
          <a:lstStyle/>
          <a:p>
            <a:pPr indent="0" marL="0">
              <a:buNone/>
            </a:pPr>
            <a:r>
              <a:rPr lang="en-US" sz="3400" b="1" dirty="0">
                <a:solidFill>
                  <a:srgbClr val="312E81"/>
                </a:solidFill>
                <a:latin typeface="Calibri" pitchFamily="34" charset="0"/>
                <a:ea typeface="Calibri" pitchFamily="34" charset="-122"/>
                <a:cs typeface="Calibri" pitchFamily="34" charset="-120"/>
              </a:rPr>
              <a:t>Security in depth</a:t>
            </a:r>
            <a:endParaRPr lang="en-US" sz="3400" dirty="0"/>
          </a:p>
        </p:txBody>
      </p:sp>
      <p:sp>
        <p:nvSpPr>
          <p:cNvPr id="3" name="Shape 1"/>
          <p:cNvSpPr/>
          <p:nvPr/>
        </p:nvSpPr>
        <p:spPr>
          <a:xfrm>
            <a:off x="502920" y="1417320"/>
            <a:ext cx="5440680" cy="1508760"/>
          </a:xfrm>
          <a:prstGeom prst="roundRect">
            <a:avLst>
              <a:gd name="adj" fmla="val 6061"/>
            </a:avLst>
          </a:prstGeom>
          <a:solidFill>
            <a:srgbClr val="FFFFFF"/>
          </a:solidFill>
          <a:ln/>
          <a:effectLst>
            <a:outerShdw sx="100000" sy="100000" kx="0" ky="0" algn="bl" rotWithShape="0" blurRad="76200" dist="25400" dir="5400000">
              <a:srgbClr val="9CA3AF">
                <a:alpha val="30000"/>
              </a:srgbClr>
            </a:outerShdw>
          </a:effectLst>
        </p:spPr>
      </p:sp>
      <p:sp>
        <p:nvSpPr>
          <p:cNvPr id="4" name="Text 2"/>
          <p:cNvSpPr/>
          <p:nvPr/>
        </p:nvSpPr>
        <p:spPr>
          <a:xfrm>
            <a:off x="731520" y="1554480"/>
            <a:ext cx="5029200" cy="128016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Both doors guarded</a:t>
            </a:r>
            <a:endParaRPr lang="en-US" sz="1500" dirty="0"/>
          </a:p>
          <a:p>
            <a:pPr indent="0" marL="0">
              <a:buNone/>
            </a:pPr>
            <a:r>
              <a:rPr lang="en-US" sz="1250" dirty="0">
                <a:solidFill>
                  <a:srgbClr val="1F2937"/>
                </a:solidFill>
                <a:latin typeface="Calibri" pitchFamily="34" charset="0"/>
                <a:ea typeface="Calibri" pitchFamily="34" charset="-122"/>
                <a:cs typeface="Calibri" pitchFamily="34" charset="-120"/>
              </a:rPr>
              <a:t>JWT middleware on REST and on the Socket.IO handshake — an unauthenticated socket is refused before any event</a:t>
            </a:r>
            <a:endParaRPr lang="en-US" sz="1500" dirty="0"/>
          </a:p>
        </p:txBody>
      </p:sp>
      <p:sp>
        <p:nvSpPr>
          <p:cNvPr id="5" name="Shape 3"/>
          <p:cNvSpPr/>
          <p:nvPr/>
        </p:nvSpPr>
        <p:spPr>
          <a:xfrm>
            <a:off x="6172200" y="1417320"/>
            <a:ext cx="5440680" cy="1508760"/>
          </a:xfrm>
          <a:prstGeom prst="roundRect">
            <a:avLst>
              <a:gd name="adj" fmla="val 6061"/>
            </a:avLst>
          </a:prstGeom>
          <a:solidFill>
            <a:srgbClr val="FFFFFF"/>
          </a:solidFill>
          <a:ln/>
          <a:effectLst>
            <a:outerShdw sx="100000" sy="100000" kx="0" ky="0" algn="bl" rotWithShape="0" blurRad="76200" dist="25400" dir="5400000">
              <a:srgbClr val="9CA3AF">
                <a:alpha val="30000"/>
              </a:srgbClr>
            </a:outerShdw>
          </a:effectLst>
        </p:spPr>
      </p:sp>
      <p:sp>
        <p:nvSpPr>
          <p:cNvPr id="6" name="Text 4"/>
          <p:cNvSpPr/>
          <p:nvPr/>
        </p:nvSpPr>
        <p:spPr>
          <a:xfrm>
            <a:off x="6400800" y="1554480"/>
            <a:ext cx="5029200" cy="128016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Authorization ≠ authentication</a:t>
            </a:r>
            <a:endParaRPr lang="en-US" sz="1500" dirty="0"/>
          </a:p>
          <a:p>
            <a:pPr indent="0" marL="0">
              <a:buNone/>
            </a:pPr>
            <a:r>
              <a:rPr lang="en-US" sz="1250" dirty="0">
                <a:solidFill>
                  <a:srgbClr val="1F2937"/>
                </a:solidFill>
                <a:latin typeface="Calibri" pitchFamily="34" charset="0"/>
                <a:ea typeface="Calibri" pitchFamily="34" charset="-122"/>
                <a:cs typeface="Calibri" pitchFamily="34" charset="-120"/>
              </a:rPr>
              <a:t>assertCanAccess: being logged in opens no room you are not a member of — enforced in the shared layer</a:t>
            </a:r>
            <a:endParaRPr lang="en-US" sz="1500" dirty="0"/>
          </a:p>
        </p:txBody>
      </p:sp>
      <p:sp>
        <p:nvSpPr>
          <p:cNvPr id="7" name="Shape 5"/>
          <p:cNvSpPr/>
          <p:nvPr/>
        </p:nvSpPr>
        <p:spPr>
          <a:xfrm>
            <a:off x="502920" y="3108960"/>
            <a:ext cx="5440680" cy="1508760"/>
          </a:xfrm>
          <a:prstGeom prst="roundRect">
            <a:avLst>
              <a:gd name="adj" fmla="val 6061"/>
            </a:avLst>
          </a:prstGeom>
          <a:solidFill>
            <a:srgbClr val="FFFFFF"/>
          </a:solidFill>
          <a:ln/>
          <a:effectLst>
            <a:outerShdw sx="100000" sy="100000" kx="0" ky="0" algn="bl" rotWithShape="0" blurRad="76200" dist="25400" dir="5400000">
              <a:srgbClr val="9CA3AF">
                <a:alpha val="30000"/>
              </a:srgbClr>
            </a:outerShdw>
          </a:effectLst>
        </p:spPr>
      </p:sp>
      <p:sp>
        <p:nvSpPr>
          <p:cNvPr id="8" name="Text 6"/>
          <p:cNvSpPr/>
          <p:nvPr/>
        </p:nvSpPr>
        <p:spPr>
          <a:xfrm>
            <a:off x="731520" y="3246120"/>
            <a:ext cx="5029200" cy="128016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Hardened inputs</a:t>
            </a:r>
            <a:endParaRPr lang="en-US" sz="1500" dirty="0"/>
          </a:p>
          <a:p>
            <a:pPr indent="0" marL="0">
              <a:buNone/>
            </a:pPr>
            <a:r>
              <a:rPr lang="en-US" sz="1250" dirty="0">
                <a:solidFill>
                  <a:srgbClr val="1F2937"/>
                </a:solidFill>
                <a:latin typeface="Calibri" pitchFamily="34" charset="0"/>
                <a:ea typeface="Calibri" pitchFamily="34" charset="-122"/>
                <a:cs typeface="Calibri" pitchFamily="34" charset="-120"/>
              </a:rPr>
              <a:t>Validation and sanitization everywhere; search input regex-escaped against ReDoS; emails never exposed</a:t>
            </a:r>
            <a:endParaRPr lang="en-US" sz="1500" dirty="0"/>
          </a:p>
        </p:txBody>
      </p:sp>
      <p:sp>
        <p:nvSpPr>
          <p:cNvPr id="9" name="Shape 7"/>
          <p:cNvSpPr/>
          <p:nvPr/>
        </p:nvSpPr>
        <p:spPr>
          <a:xfrm>
            <a:off x="6172200" y="3108960"/>
            <a:ext cx="5440680" cy="1508760"/>
          </a:xfrm>
          <a:prstGeom prst="roundRect">
            <a:avLst>
              <a:gd name="adj" fmla="val 6061"/>
            </a:avLst>
          </a:prstGeom>
          <a:solidFill>
            <a:srgbClr val="FFFFFF"/>
          </a:solidFill>
          <a:ln/>
          <a:effectLst>
            <a:outerShdw sx="100000" sy="100000" kx="0" ky="0" algn="bl" rotWithShape="0" blurRad="76200" dist="25400" dir="5400000">
              <a:srgbClr val="9CA3AF">
                <a:alpha val="30000"/>
              </a:srgbClr>
            </a:outerShdw>
          </a:effectLst>
        </p:spPr>
      </p:sp>
      <p:sp>
        <p:nvSpPr>
          <p:cNvPr id="10" name="Text 8"/>
          <p:cNvSpPr/>
          <p:nvPr/>
        </p:nvSpPr>
        <p:spPr>
          <a:xfrm>
            <a:off x="6400800" y="3246120"/>
            <a:ext cx="5029200" cy="128016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Abuse limits</a:t>
            </a:r>
            <a:endParaRPr lang="en-US" sz="1500" dirty="0"/>
          </a:p>
          <a:p>
            <a:pPr indent="0" marL="0">
              <a:buNone/>
            </a:pPr>
            <a:r>
              <a:rPr lang="en-US" sz="1250" dirty="0">
                <a:solidFill>
                  <a:srgbClr val="1F2937"/>
                </a:solidFill>
                <a:latin typeface="Calibri" pitchFamily="34" charset="0"/>
                <a:ea typeface="Calibri" pitchFamily="34" charset="-122"/>
                <a:cs typeface="Calibri" pitchFamily="34" charset="-120"/>
              </a:rPr>
              <a:t>Rate limiting (global + auth), helmet headers, strict CORS allow-list, bounded payloads, non-root container</a:t>
            </a:r>
            <a:endParaRPr lang="en-US" sz="1500" dirty="0"/>
          </a:p>
        </p:txBody>
      </p:sp>
      <p:sp>
        <p:nvSpPr>
          <p:cNvPr id="11" name="Shape 9"/>
          <p:cNvSpPr/>
          <p:nvPr/>
        </p:nvSpPr>
        <p:spPr>
          <a:xfrm>
            <a:off x="502920" y="4983480"/>
            <a:ext cx="11183112" cy="1188720"/>
          </a:xfrm>
          <a:prstGeom prst="roundRect">
            <a:avLst>
              <a:gd name="adj" fmla="val 7692"/>
            </a:avLst>
          </a:prstGeom>
          <a:solidFill>
            <a:srgbClr val="FFFBEB"/>
          </a:solidFill>
          <a:ln w="12700">
            <a:solidFill>
              <a:srgbClr val="D97706"/>
            </a:solidFill>
            <a:prstDash val="solid"/>
          </a:ln>
        </p:spPr>
      </p:sp>
      <p:sp>
        <p:nvSpPr>
          <p:cNvPr id="12" name="Text 10"/>
          <p:cNvSpPr/>
          <p:nvPr/>
        </p:nvSpPr>
        <p:spPr>
          <a:xfrm>
            <a:off x="777240" y="5166360"/>
            <a:ext cx="10607040" cy="868680"/>
          </a:xfrm>
          <a:prstGeom prst="rect">
            <a:avLst/>
          </a:prstGeom>
          <a:noFill/>
          <a:ln/>
        </p:spPr>
        <p:txBody>
          <a:bodyPr wrap="square" rtlCol="0" anchor="ctr"/>
          <a:lstStyle/>
          <a:p>
            <a:pPr indent="0" marL="0">
              <a:buNone/>
            </a:pPr>
            <a:r>
              <a:rPr lang="en-US" sz="1350" b="1" dirty="0">
                <a:solidFill>
                  <a:srgbClr val="D97706"/>
                </a:solidFill>
                <a:latin typeface="Calibri" pitchFamily="34" charset="0"/>
                <a:ea typeface="Calibri" pitchFamily="34" charset="-122"/>
                <a:cs typeface="Calibri" pitchFamily="34" charset="-120"/>
              </a:rPr>
              <a:t>Honest disclosure — </a:t>
            </a:r>
            <a:pPr indent="0" marL="0">
              <a:buNone/>
            </a:pPr>
            <a:r>
              <a:rPr lang="en-US" sz="1300" dirty="0">
                <a:solidFill>
                  <a:srgbClr val="1F2937"/>
                </a:solidFill>
                <a:latin typeface="Calibri" pitchFamily="34" charset="0"/>
                <a:ea typeface="Calibri" pitchFamily="34" charset="-122"/>
                <a:cs typeface="Calibri" pitchFamily="34" charset="-120"/>
              </a:rPr>
              <a:t>an auth guard was once missing on the messages router (imported, never applied). A crash revealed it; all four routers were audited; regression tests now lock it. Lesson: an unused import is a warning signal.</a:t>
            </a:r>
            <a:endParaRPr lang="en-US" sz="1350" dirty="0"/>
          </a:p>
        </p:txBody>
      </p:sp>
      <p:sp>
        <p:nvSpPr>
          <p:cNvPr id="13" name="Text 11"/>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4" name="Text 12"/>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8229600" cy="640080"/>
          </a:xfrm>
          <a:prstGeom prst="rect">
            <a:avLst/>
          </a:prstGeom>
          <a:noFill/>
          <a:ln/>
        </p:spPr>
        <p:txBody>
          <a:bodyPr wrap="square" rtlCol="0" anchor="ctr"/>
          <a:lstStyle/>
          <a:p>
            <a:pPr indent="0" marL="0">
              <a:buNone/>
            </a:pPr>
            <a:r>
              <a:rPr lang="en-US" sz="3400" b="1" dirty="0">
                <a:solidFill>
                  <a:srgbClr val="312E81"/>
                </a:solidFill>
                <a:latin typeface="Calibri" pitchFamily="34" charset="0"/>
                <a:ea typeface="Calibri" pitchFamily="34" charset="-122"/>
                <a:cs typeface="Calibri" pitchFamily="34" charset="-120"/>
              </a:rPr>
              <a:t>Quality pipeline</a:t>
            </a:r>
            <a:endParaRPr lang="en-US" sz="3400" dirty="0"/>
          </a:p>
        </p:txBody>
      </p:sp>
      <p:sp>
        <p:nvSpPr>
          <p:cNvPr id="3" name="Shape 1"/>
          <p:cNvSpPr/>
          <p:nvPr/>
        </p:nvSpPr>
        <p:spPr>
          <a:xfrm>
            <a:off x="502920" y="1417320"/>
            <a:ext cx="2633472" cy="1920240"/>
          </a:xfrm>
          <a:prstGeom prst="roundRect">
            <a:avLst>
              <a:gd name="adj" fmla="val 5714"/>
            </a:avLst>
          </a:prstGeom>
          <a:solidFill>
            <a:srgbClr val="FFFFFF"/>
          </a:solidFill>
          <a:ln/>
          <a:effectLst>
            <a:outerShdw sx="100000" sy="100000" kx="0" ky="0" algn="bl" rotWithShape="0" blurRad="76200" dist="25400" dir="5400000">
              <a:srgbClr val="9CA3AF">
                <a:alpha val="30000"/>
              </a:srgbClr>
            </a:outerShdw>
          </a:effectLst>
        </p:spPr>
      </p:sp>
      <p:sp>
        <p:nvSpPr>
          <p:cNvPr id="4" name="Text 2"/>
          <p:cNvSpPr/>
          <p:nvPr/>
        </p:nvSpPr>
        <p:spPr>
          <a:xfrm>
            <a:off x="502920" y="1600200"/>
            <a:ext cx="2633472" cy="822960"/>
          </a:xfrm>
          <a:prstGeom prst="rect">
            <a:avLst/>
          </a:prstGeom>
          <a:noFill/>
          <a:ln/>
        </p:spPr>
        <p:txBody>
          <a:bodyPr wrap="square" rtlCol="0" anchor="ctr"/>
          <a:lstStyle/>
          <a:p>
            <a:pPr algn="ctr" indent="0" marL="0">
              <a:buNone/>
            </a:pPr>
            <a:r>
              <a:rPr lang="en-US" sz="4400" b="1" dirty="0">
                <a:solidFill>
                  <a:srgbClr val="D97706"/>
                </a:solidFill>
                <a:latin typeface="Calibri" pitchFamily="34" charset="0"/>
                <a:ea typeface="Calibri" pitchFamily="34" charset="-122"/>
                <a:cs typeface="Calibri" pitchFamily="34" charset="-120"/>
              </a:rPr>
              <a:t>39</a:t>
            </a:r>
            <a:endParaRPr lang="en-US" sz="4400" dirty="0"/>
          </a:p>
        </p:txBody>
      </p:sp>
      <p:sp>
        <p:nvSpPr>
          <p:cNvPr id="5" name="Text 3"/>
          <p:cNvSpPr/>
          <p:nvPr/>
        </p:nvSpPr>
        <p:spPr>
          <a:xfrm>
            <a:off x="640080" y="2468880"/>
            <a:ext cx="2359152" cy="777240"/>
          </a:xfrm>
          <a:prstGeom prst="rect">
            <a:avLst/>
          </a:prstGeom>
          <a:noFill/>
          <a:ln/>
        </p:spPr>
        <p:txBody>
          <a:bodyPr wrap="square"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integration &amp; socket tests</a:t>
            </a:r>
            <a:endParaRPr lang="en-US" sz="1150" dirty="0"/>
          </a:p>
        </p:txBody>
      </p:sp>
      <p:sp>
        <p:nvSpPr>
          <p:cNvPr id="6" name="Shape 4"/>
          <p:cNvSpPr/>
          <p:nvPr/>
        </p:nvSpPr>
        <p:spPr>
          <a:xfrm>
            <a:off x="3355848" y="1417320"/>
            <a:ext cx="2633472" cy="1920240"/>
          </a:xfrm>
          <a:prstGeom prst="roundRect">
            <a:avLst>
              <a:gd name="adj" fmla="val 5714"/>
            </a:avLst>
          </a:prstGeom>
          <a:solidFill>
            <a:srgbClr val="FFFFFF"/>
          </a:solidFill>
          <a:ln/>
          <a:effectLst>
            <a:outerShdw sx="100000" sy="100000" kx="0" ky="0" algn="bl" rotWithShape="0" blurRad="76200" dist="25400" dir="5400000">
              <a:srgbClr val="9CA3AF">
                <a:alpha val="30000"/>
              </a:srgbClr>
            </a:outerShdw>
          </a:effectLst>
        </p:spPr>
      </p:sp>
      <p:sp>
        <p:nvSpPr>
          <p:cNvPr id="7" name="Text 5"/>
          <p:cNvSpPr/>
          <p:nvPr/>
        </p:nvSpPr>
        <p:spPr>
          <a:xfrm>
            <a:off x="3355848" y="1600200"/>
            <a:ext cx="2633472" cy="822960"/>
          </a:xfrm>
          <a:prstGeom prst="rect">
            <a:avLst/>
          </a:prstGeom>
          <a:noFill/>
          <a:ln/>
        </p:spPr>
        <p:txBody>
          <a:bodyPr wrap="square" rtlCol="0" anchor="ctr"/>
          <a:lstStyle/>
          <a:p>
            <a:pPr algn="ctr" indent="0" marL="0">
              <a:buNone/>
            </a:pPr>
            <a:r>
              <a:rPr lang="en-US" sz="4400" b="1" dirty="0">
                <a:solidFill>
                  <a:srgbClr val="D97706"/>
                </a:solidFill>
                <a:latin typeface="Calibri" pitchFamily="34" charset="0"/>
                <a:ea typeface="Calibri" pitchFamily="34" charset="-122"/>
                <a:cs typeface="Calibri" pitchFamily="34" charset="-120"/>
              </a:rPr>
              <a:t>20</a:t>
            </a:r>
            <a:endParaRPr lang="en-US" sz="4400" dirty="0"/>
          </a:p>
        </p:txBody>
      </p:sp>
      <p:sp>
        <p:nvSpPr>
          <p:cNvPr id="8" name="Text 6"/>
          <p:cNvSpPr/>
          <p:nvPr/>
        </p:nvSpPr>
        <p:spPr>
          <a:xfrm>
            <a:off x="3493008" y="2468880"/>
            <a:ext cx="2359152" cy="777240"/>
          </a:xfrm>
          <a:prstGeom prst="rect">
            <a:avLst/>
          </a:prstGeom>
          <a:noFill/>
          <a:ln/>
        </p:spPr>
        <p:txBody>
          <a:bodyPr wrap="square"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incidents documented</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(symptom → cause → lesson)</a:t>
            </a:r>
            <a:endParaRPr lang="en-US" sz="1150" dirty="0"/>
          </a:p>
        </p:txBody>
      </p:sp>
      <p:sp>
        <p:nvSpPr>
          <p:cNvPr id="9" name="Shape 7"/>
          <p:cNvSpPr/>
          <p:nvPr/>
        </p:nvSpPr>
        <p:spPr>
          <a:xfrm>
            <a:off x="6208776" y="1417320"/>
            <a:ext cx="2633472" cy="1920240"/>
          </a:xfrm>
          <a:prstGeom prst="roundRect">
            <a:avLst>
              <a:gd name="adj" fmla="val 5714"/>
            </a:avLst>
          </a:prstGeom>
          <a:solidFill>
            <a:srgbClr val="FFFFFF"/>
          </a:solidFill>
          <a:ln/>
          <a:effectLst>
            <a:outerShdw sx="100000" sy="100000" kx="0" ky="0" algn="bl" rotWithShape="0" blurRad="76200" dist="25400" dir="5400000">
              <a:srgbClr val="9CA3AF">
                <a:alpha val="30000"/>
              </a:srgbClr>
            </a:outerShdw>
          </a:effectLst>
        </p:spPr>
      </p:sp>
      <p:sp>
        <p:nvSpPr>
          <p:cNvPr id="10" name="Text 8"/>
          <p:cNvSpPr/>
          <p:nvPr/>
        </p:nvSpPr>
        <p:spPr>
          <a:xfrm>
            <a:off x="6208776" y="1600200"/>
            <a:ext cx="2633472" cy="822960"/>
          </a:xfrm>
          <a:prstGeom prst="rect">
            <a:avLst/>
          </a:prstGeom>
          <a:noFill/>
          <a:ln/>
        </p:spPr>
        <p:txBody>
          <a:bodyPr wrap="square" rtlCol="0" anchor="ctr"/>
          <a:lstStyle/>
          <a:p>
            <a:pPr algn="ctr" indent="0" marL="0">
              <a:buNone/>
            </a:pPr>
            <a:r>
              <a:rPr lang="en-US" sz="4400" b="1" dirty="0">
                <a:solidFill>
                  <a:srgbClr val="D97706"/>
                </a:solidFill>
                <a:latin typeface="Calibri" pitchFamily="34" charset="0"/>
                <a:ea typeface="Calibri" pitchFamily="34" charset="-122"/>
                <a:cs typeface="Calibri" pitchFamily="34" charset="-120"/>
              </a:rPr>
              <a:t>16</a:t>
            </a:r>
            <a:endParaRPr lang="en-US" sz="4400" dirty="0"/>
          </a:p>
        </p:txBody>
      </p:sp>
      <p:sp>
        <p:nvSpPr>
          <p:cNvPr id="11" name="Text 9"/>
          <p:cNvSpPr/>
          <p:nvPr/>
        </p:nvSpPr>
        <p:spPr>
          <a:xfrm>
            <a:off x="6345936" y="2468880"/>
            <a:ext cx="2359152" cy="777240"/>
          </a:xfrm>
          <a:prstGeom prst="rect">
            <a:avLst/>
          </a:prstGeom>
          <a:noFill/>
          <a:ln/>
        </p:spPr>
        <p:txBody>
          <a:bodyPr wrap="square"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REST endpoints,</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all documented in OpenAPI</a:t>
            </a:r>
            <a:endParaRPr lang="en-US" sz="1150" dirty="0"/>
          </a:p>
        </p:txBody>
      </p:sp>
      <p:sp>
        <p:nvSpPr>
          <p:cNvPr id="12" name="Shape 10"/>
          <p:cNvSpPr/>
          <p:nvPr/>
        </p:nvSpPr>
        <p:spPr>
          <a:xfrm>
            <a:off x="9061704" y="1417320"/>
            <a:ext cx="2633472" cy="1920240"/>
          </a:xfrm>
          <a:prstGeom prst="roundRect">
            <a:avLst>
              <a:gd name="adj" fmla="val 5714"/>
            </a:avLst>
          </a:prstGeom>
          <a:solidFill>
            <a:srgbClr val="FFFFFF"/>
          </a:solidFill>
          <a:ln/>
          <a:effectLst>
            <a:outerShdw sx="100000" sy="100000" kx="0" ky="0" algn="bl" rotWithShape="0" blurRad="76200" dist="25400" dir="5400000">
              <a:srgbClr val="9CA3AF">
                <a:alpha val="30000"/>
              </a:srgbClr>
            </a:outerShdw>
          </a:effectLst>
        </p:spPr>
      </p:sp>
      <p:sp>
        <p:nvSpPr>
          <p:cNvPr id="13" name="Text 11"/>
          <p:cNvSpPr/>
          <p:nvPr/>
        </p:nvSpPr>
        <p:spPr>
          <a:xfrm>
            <a:off x="9061704" y="1600200"/>
            <a:ext cx="2633472" cy="822960"/>
          </a:xfrm>
          <a:prstGeom prst="rect">
            <a:avLst/>
          </a:prstGeom>
          <a:noFill/>
          <a:ln/>
        </p:spPr>
        <p:txBody>
          <a:bodyPr wrap="square" rtlCol="0" anchor="ctr"/>
          <a:lstStyle/>
          <a:p>
            <a:pPr algn="ctr" indent="0" marL="0">
              <a:buNone/>
            </a:pPr>
            <a:r>
              <a:rPr lang="en-US" sz="4400" b="1" dirty="0">
                <a:solidFill>
                  <a:srgbClr val="D97706"/>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9198864" y="2468880"/>
            <a:ext cx="2359152" cy="777240"/>
          </a:xfrm>
          <a:prstGeom prst="rect">
            <a:avLst/>
          </a:prstGeom>
          <a:noFill/>
          <a:ln/>
        </p:spPr>
        <p:txBody>
          <a:bodyPr wrap="square"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command to reproduce</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the stack (docker compose)</a:t>
            </a:r>
            <a:endParaRPr lang="en-US" sz="1150" dirty="0"/>
          </a:p>
        </p:txBody>
      </p:sp>
      <p:sp>
        <p:nvSpPr>
          <p:cNvPr id="15" name="Shape 13"/>
          <p:cNvSpPr/>
          <p:nvPr/>
        </p:nvSpPr>
        <p:spPr>
          <a:xfrm>
            <a:off x="502920" y="3749040"/>
            <a:ext cx="11183112" cy="2286000"/>
          </a:xfrm>
          <a:prstGeom prst="roundRect">
            <a:avLst>
              <a:gd name="adj" fmla="val 4000"/>
            </a:avLst>
          </a:prstGeom>
          <a:solidFill>
            <a:srgbClr val="312E81"/>
          </a:solidFill>
          <a:ln/>
        </p:spPr>
      </p:sp>
      <p:sp>
        <p:nvSpPr>
          <p:cNvPr id="16" name="Text 14"/>
          <p:cNvSpPr/>
          <p:nvPr/>
        </p:nvSpPr>
        <p:spPr>
          <a:xfrm>
            <a:off x="822960" y="3950208"/>
            <a:ext cx="10515600" cy="1920240"/>
          </a:xfrm>
          <a:prstGeom prst="rect">
            <a:avLst/>
          </a:prstGeom>
          <a:noFill/>
          <a:ln/>
        </p:spPr>
        <p:txBody>
          <a:bodyPr wrap="square"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What the tests protect</a:t>
            </a:r>
            <a:endParaRPr lang="en-US" sz="1500" dirty="0"/>
          </a:p>
          <a:p>
            <a:pPr indent="0" marL="0">
              <a:buNone/>
            </a:pPr>
            <a:r>
              <a:rPr lang="en-US" sz="1350" dirty="0">
                <a:solidFill>
                  <a:srgbClr val="FFFFFF"/>
                </a:solidFill>
                <a:latin typeface="Calibri" pitchFamily="34" charset="0"/>
                <a:ea typeface="Calibri" pitchFamily="34" charset="-122"/>
                <a:cs typeface="Calibri" pitchFamily="34" charset="-120"/>
              </a:rPr>
              <a:t>Every business rule and every security property: identical login errors, ban persistence, ownership transfer, cascade deletion, per-channel authorization on both paths — and a live Socket.IO test with two real clients on an ephemeral server.</a:t>
            </a:r>
            <a:endParaRPr lang="en-US" sz="1500" dirty="0"/>
          </a:p>
          <a:p>
            <a:pPr indent="0" marL="0">
              <a:buNone/>
            </a:pPr>
            <a:r>
              <a:rPr lang="en-US" sz="1350" dirty="0">
                <a:solidFill>
                  <a:srgbClr val="C7C9F0"/>
                </a:solidFill>
                <a:latin typeface="Calibri" pitchFamily="34" charset="0"/>
                <a:ea typeface="Calibri" pitchFamily="34" charset="-122"/>
                <a:cs typeface="Calibri" pitchFamily="34" charset="-120"/>
              </a:rPr>
              <a:t>Their first run immediately caught a real contract inconsistency that defensive client code had been hiding. GitHub Actions runs everything on every push — broken code cannot reach production silently.</a:t>
            </a:r>
            <a:endParaRPr lang="en-US" sz="1500" dirty="0"/>
          </a:p>
        </p:txBody>
      </p:sp>
      <p:sp>
        <p:nvSpPr>
          <p:cNvPr id="17" name="Text 15"/>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8" name="Text 16"/>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12E81"/>
        </a:solidFill>
      </p:bgPr>
    </p:bg>
    <p:spTree>
      <p:nvGrpSpPr>
        <p:cNvPr id="1" name=""/>
        <p:cNvGrpSpPr/>
        <p:nvPr/>
      </p:nvGrpSpPr>
      <p:grpSpPr>
        <a:xfrm>
          <a:off x="0" y="0"/>
          <a:ext cx="0" cy="0"/>
          <a:chOff x="0" y="0"/>
          <a:chExt cx="0" cy="0"/>
        </a:xfrm>
      </p:grpSpPr>
      <p:sp>
        <p:nvSpPr>
          <p:cNvPr id="2" name="Text 0"/>
          <p:cNvSpPr/>
          <p:nvPr/>
        </p:nvSpPr>
        <p:spPr>
          <a:xfrm>
            <a:off x="502920" y="411480"/>
            <a:ext cx="109728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One engineering story: the race condition</a:t>
            </a:r>
            <a:endParaRPr lang="en-US" sz="3200" dirty="0"/>
          </a:p>
        </p:txBody>
      </p:sp>
      <p:sp>
        <p:nvSpPr>
          <p:cNvPr id="3" name="Shape 1"/>
          <p:cNvSpPr/>
          <p:nvPr/>
        </p:nvSpPr>
        <p:spPr>
          <a:xfrm>
            <a:off x="777240" y="1417320"/>
            <a:ext cx="566928" cy="566928"/>
          </a:xfrm>
          <a:prstGeom prst="ellipse">
            <a:avLst/>
          </a:prstGeom>
          <a:solidFill>
            <a:srgbClr val="D97706"/>
          </a:solidFill>
          <a:ln/>
        </p:spPr>
      </p:sp>
      <p:sp>
        <p:nvSpPr>
          <p:cNvPr id="4" name="Text 2"/>
          <p:cNvSpPr/>
          <p:nvPr/>
        </p:nvSpPr>
        <p:spPr>
          <a:xfrm>
            <a:off x="777240" y="141732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600200" y="1435608"/>
            <a:ext cx="9875520" cy="54864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User sends — a draft appears instantly (optimistic UI)</a:t>
            </a:r>
            <a:endParaRPr lang="en-US" sz="1650" dirty="0"/>
          </a:p>
        </p:txBody>
      </p:sp>
      <p:sp>
        <p:nvSpPr>
          <p:cNvPr id="6" name="Shape 4"/>
          <p:cNvSpPr/>
          <p:nvPr/>
        </p:nvSpPr>
        <p:spPr>
          <a:xfrm>
            <a:off x="777240" y="2350008"/>
            <a:ext cx="566928" cy="566928"/>
          </a:xfrm>
          <a:prstGeom prst="ellipse">
            <a:avLst/>
          </a:prstGeom>
          <a:solidFill>
            <a:srgbClr val="D97706"/>
          </a:solidFill>
          <a:ln/>
        </p:spPr>
      </p:sp>
      <p:sp>
        <p:nvSpPr>
          <p:cNvPr id="7" name="Text 5"/>
          <p:cNvSpPr/>
          <p:nvPr/>
        </p:nvSpPr>
        <p:spPr>
          <a:xfrm>
            <a:off x="777240" y="2350008"/>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600200" y="2368296"/>
            <a:ext cx="9875520" cy="54864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Server persists, then broadcasts to the room…</a:t>
            </a:r>
            <a:endParaRPr lang="en-US" sz="1650" dirty="0"/>
          </a:p>
        </p:txBody>
      </p:sp>
      <p:sp>
        <p:nvSpPr>
          <p:cNvPr id="9" name="Shape 7"/>
          <p:cNvSpPr/>
          <p:nvPr/>
        </p:nvSpPr>
        <p:spPr>
          <a:xfrm>
            <a:off x="777240" y="3282696"/>
            <a:ext cx="566928" cy="566928"/>
          </a:xfrm>
          <a:prstGeom prst="ellipse">
            <a:avLst/>
          </a:prstGeom>
          <a:solidFill>
            <a:srgbClr val="D97706"/>
          </a:solidFill>
          <a:ln/>
        </p:spPr>
      </p:sp>
      <p:sp>
        <p:nvSpPr>
          <p:cNvPr id="10" name="Text 8"/>
          <p:cNvSpPr/>
          <p:nvPr/>
        </p:nvSpPr>
        <p:spPr>
          <a:xfrm>
            <a:off x="777240" y="3282696"/>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600200" y="3300984"/>
            <a:ext cx="9875520" cy="54864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…and only after, acknowledges the sender</a:t>
            </a:r>
            <a:endParaRPr lang="en-US" sz="1650" dirty="0"/>
          </a:p>
        </p:txBody>
      </p:sp>
      <p:sp>
        <p:nvSpPr>
          <p:cNvPr id="12" name="Shape 10"/>
          <p:cNvSpPr/>
          <p:nvPr/>
        </p:nvSpPr>
        <p:spPr>
          <a:xfrm>
            <a:off x="777240" y="4215384"/>
            <a:ext cx="566928" cy="566928"/>
          </a:xfrm>
          <a:prstGeom prst="ellipse">
            <a:avLst/>
          </a:prstGeom>
          <a:solidFill>
            <a:srgbClr val="DC2626"/>
          </a:solidFill>
          <a:ln/>
        </p:spPr>
      </p:sp>
      <p:sp>
        <p:nvSpPr>
          <p:cNvPr id="13" name="Text 11"/>
          <p:cNvSpPr/>
          <p:nvPr/>
        </p:nvSpPr>
        <p:spPr>
          <a:xfrm>
            <a:off x="777240" y="4215384"/>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4" name="Text 12"/>
          <p:cNvSpPr/>
          <p:nvPr/>
        </p:nvSpPr>
        <p:spPr>
          <a:xfrm>
            <a:off x="1600200" y="4233672"/>
            <a:ext cx="9875520" cy="54864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The broadcast arrives first → the ack duplicated the message</a:t>
            </a:r>
            <a:endParaRPr lang="en-US" sz="1650" dirty="0"/>
          </a:p>
        </p:txBody>
      </p:sp>
      <p:sp>
        <p:nvSpPr>
          <p:cNvPr id="15" name="Shape 13"/>
          <p:cNvSpPr/>
          <p:nvPr/>
        </p:nvSpPr>
        <p:spPr>
          <a:xfrm>
            <a:off x="502920" y="5257800"/>
            <a:ext cx="11183112" cy="1051560"/>
          </a:xfrm>
          <a:prstGeom prst="roundRect">
            <a:avLst>
              <a:gd name="adj" fmla="val 8696"/>
            </a:avLst>
          </a:prstGeom>
          <a:solidFill>
            <a:srgbClr val="D97706"/>
          </a:solidFill>
          <a:ln/>
        </p:spPr>
      </p:sp>
      <p:sp>
        <p:nvSpPr>
          <p:cNvPr id="16" name="Text 14"/>
          <p:cNvSpPr/>
          <p:nvPr/>
        </p:nvSpPr>
        <p:spPr>
          <a:xfrm>
            <a:off x="822960" y="5440680"/>
            <a:ext cx="10515600" cy="731520"/>
          </a:xfrm>
          <a:prstGeom prst="rect">
            <a:avLst/>
          </a:prstGeom>
          <a:noFill/>
          <a:ln/>
        </p:spPr>
        <p:txBody>
          <a:bodyPr wrap="square"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The lesson — </a:t>
            </a:r>
            <a:pPr indent="0" marL="0">
              <a:buNone/>
            </a:pPr>
            <a:r>
              <a:rPr lang="en-US" sz="1500" dirty="0">
                <a:solidFill>
                  <a:srgbClr val="312E81"/>
                </a:solidFill>
                <a:latin typeface="Calibri" pitchFamily="34" charset="0"/>
                <a:ea typeface="Calibri" pitchFamily="34" charset="-122"/>
                <a:cs typeface="Calibri" pitchFamily="34" charset="-120"/>
              </a:rPr>
              <a:t>when two independent sources can produce the same data, each must check whether the other has already passed. A guard on one side is never enough.</a:t>
            </a:r>
            <a:endParaRPr lang="en-US" sz="1500" dirty="0"/>
          </a:p>
        </p:txBody>
      </p:sp>
      <p:sp>
        <p:nvSpPr>
          <p:cNvPr id="17" name="Text 15"/>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8" name="Text 16"/>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502920" y="411480"/>
            <a:ext cx="10972800" cy="640080"/>
          </a:xfrm>
          <a:prstGeom prst="rect">
            <a:avLst/>
          </a:prstGeom>
          <a:noFill/>
          <a:ln/>
        </p:spPr>
        <p:txBody>
          <a:bodyPr wrap="square" rtlCol="0" anchor="ctr"/>
          <a:lstStyle/>
          <a:p>
            <a:pPr indent="0" marL="0">
              <a:buNone/>
            </a:pPr>
            <a:r>
              <a:rPr lang="en-US" sz="3200" b="1" dirty="0">
                <a:solidFill>
                  <a:srgbClr val="312E81"/>
                </a:solidFill>
                <a:latin typeface="Calibri" pitchFamily="34" charset="0"/>
                <a:ea typeface="Calibri" pitchFamily="34" charset="-122"/>
                <a:cs typeface="Calibri" pitchFamily="34" charset="-120"/>
              </a:rPr>
              <a:t>Results, limits, and what comes next</a:t>
            </a:r>
            <a:endParaRPr lang="en-US" sz="3200" dirty="0"/>
          </a:p>
        </p:txBody>
      </p:sp>
      <p:sp>
        <p:nvSpPr>
          <p:cNvPr id="3" name="Shape 1"/>
          <p:cNvSpPr/>
          <p:nvPr/>
        </p:nvSpPr>
        <p:spPr>
          <a:xfrm>
            <a:off x="502920" y="1371600"/>
            <a:ext cx="5440680" cy="4480560"/>
          </a:xfrm>
          <a:prstGeom prst="roundRect">
            <a:avLst>
              <a:gd name="adj" fmla="val 2041"/>
            </a:avLst>
          </a:prstGeom>
          <a:solidFill>
            <a:srgbClr val="FFFFFF"/>
          </a:solidFill>
          <a:ln/>
          <a:effectLst>
            <a:outerShdw sx="100000" sy="100000" kx="0" ky="0" algn="bl" rotWithShape="0" blurRad="76200" dist="25400" dir="5400000">
              <a:srgbClr val="9CA3AF">
                <a:alpha val="30000"/>
              </a:srgbClr>
            </a:outerShdw>
          </a:effectLst>
        </p:spPr>
      </p:sp>
      <p:sp>
        <p:nvSpPr>
          <p:cNvPr id="4" name="Text 2"/>
          <p:cNvSpPr/>
          <p:nvPr/>
        </p:nvSpPr>
        <p:spPr>
          <a:xfrm>
            <a:off x="777240" y="1554480"/>
            <a:ext cx="4937760" cy="411480"/>
          </a:xfrm>
          <a:prstGeom prst="rect">
            <a:avLst/>
          </a:prstGeom>
          <a:noFill/>
          <a:ln/>
        </p:spPr>
        <p:txBody>
          <a:bodyPr wrap="square" rtlCol="0" anchor="ctr"/>
          <a:lstStyle/>
          <a:p>
            <a:pPr indent="0" marL="0">
              <a:buNone/>
            </a:pPr>
            <a:r>
              <a:rPr lang="en-US" sz="1700" b="1" dirty="0">
                <a:solidFill>
                  <a:srgbClr val="059669"/>
                </a:solidFill>
                <a:latin typeface="Calibri" pitchFamily="34" charset="0"/>
                <a:ea typeface="Calibri" pitchFamily="34" charset="-122"/>
                <a:cs typeface="Calibri" pitchFamily="34" charset="-120"/>
              </a:rPr>
              <a:t>Delivered &amp; verifiable</a:t>
            </a:r>
            <a:endParaRPr lang="en-US" sz="1700" dirty="0"/>
          </a:p>
        </p:txBody>
      </p:sp>
      <p:sp>
        <p:nvSpPr>
          <p:cNvPr id="5" name="Text 3"/>
          <p:cNvSpPr/>
          <p:nvPr/>
        </p:nvSpPr>
        <p:spPr>
          <a:xfrm>
            <a:off x="777240" y="2011680"/>
            <a:ext cx="4937760" cy="3566160"/>
          </a:xfrm>
          <a:prstGeom prst="rect">
            <a:avLst/>
          </a:prstGeom>
          <a:noFill/>
          <a:ln/>
        </p:spPr>
        <p:txBody>
          <a:bodyPr wrap="square" rtlCol="0" anchor="ctr"/>
          <a:lstStyle/>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All Must-have and Should-have requirements, live in production</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Documented end to end: UML → code → tests → incident journal</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Reproducible locally in one command</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Zero hosting cost — the problem statement, answered</a:t>
            </a:r>
            <a:endParaRPr lang="en-US" sz="1350" dirty="0"/>
          </a:p>
        </p:txBody>
      </p:sp>
      <p:sp>
        <p:nvSpPr>
          <p:cNvPr id="6" name="Shape 4"/>
          <p:cNvSpPr/>
          <p:nvPr/>
        </p:nvSpPr>
        <p:spPr>
          <a:xfrm>
            <a:off x="6245352" y="1371600"/>
            <a:ext cx="5440680" cy="4480560"/>
          </a:xfrm>
          <a:prstGeom prst="roundRect">
            <a:avLst>
              <a:gd name="adj" fmla="val 2041"/>
            </a:avLst>
          </a:prstGeom>
          <a:solidFill>
            <a:srgbClr val="FFFFFF"/>
          </a:solidFill>
          <a:ln/>
          <a:effectLst>
            <a:outerShdw sx="100000" sy="100000" kx="0" ky="0" algn="bl" rotWithShape="0" blurRad="76200" dist="25400" dir="5400000">
              <a:srgbClr val="9CA3AF">
                <a:alpha val="30000"/>
              </a:srgbClr>
            </a:outerShdw>
          </a:effectLst>
        </p:spPr>
      </p:sp>
      <p:sp>
        <p:nvSpPr>
          <p:cNvPr id="7" name="Text 5"/>
          <p:cNvSpPr/>
          <p:nvPr/>
        </p:nvSpPr>
        <p:spPr>
          <a:xfrm>
            <a:off x="6519672" y="1554480"/>
            <a:ext cx="4937760" cy="411480"/>
          </a:xfrm>
          <a:prstGeom prst="rect">
            <a:avLst/>
          </a:prstGeom>
          <a:noFill/>
          <a:ln/>
        </p:spPr>
        <p:txBody>
          <a:bodyPr wrap="square" rtlCol="0" anchor="ctr"/>
          <a:lstStyle/>
          <a:p>
            <a:pPr indent="0" marL="0">
              <a:buNone/>
            </a:pPr>
            <a:r>
              <a:rPr lang="en-US" sz="1700" b="1" dirty="0">
                <a:solidFill>
                  <a:srgbClr val="D97706"/>
                </a:solidFill>
                <a:latin typeface="Calibri" pitchFamily="34" charset="0"/>
                <a:ea typeface="Calibri" pitchFamily="34" charset="-122"/>
                <a:cs typeface="Calibri" pitchFamily="34" charset="-120"/>
              </a:rPr>
              <a:t>Known limits → future work</a:t>
            </a:r>
            <a:endParaRPr lang="en-US" sz="1700" dirty="0"/>
          </a:p>
        </p:txBody>
      </p:sp>
      <p:sp>
        <p:nvSpPr>
          <p:cNvPr id="8" name="Text 6"/>
          <p:cNvSpPr/>
          <p:nvPr/>
        </p:nvSpPr>
        <p:spPr>
          <a:xfrm>
            <a:off x="6519672" y="2011680"/>
            <a:ext cx="4937760" cy="3566160"/>
          </a:xfrm>
          <a:prstGeom prst="rect">
            <a:avLst/>
          </a:prstGeom>
          <a:noFill/>
          <a:ln/>
        </p:spPr>
        <p:txBody>
          <a:bodyPr wrap="square" rtlCol="0" anchor="ctr"/>
          <a:lstStyle/>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Presence is static today → live status, typing, read receipts (same socket pattern)</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Free-tier cold starts → covered by the loading UX; paid tier removes them</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No end-to-end encryption → TLS in transit, access-controlled at rest</a:t>
            </a:r>
            <a:endParaRPr lang="en-US" sz="1350" dirty="0"/>
          </a:p>
          <a:p>
            <a:pPr marL="342900" indent="-342900">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Longer term: TypeScript, schema-first validation, Redis adapter for horizontal scaling</a:t>
            </a:r>
            <a:endParaRPr lang="en-US" sz="1350" dirty="0"/>
          </a:p>
        </p:txBody>
      </p:sp>
      <p:sp>
        <p:nvSpPr>
          <p:cNvPr id="9" name="Text 7"/>
          <p:cNvSpPr/>
          <p:nvPr/>
        </p:nvSpPr>
        <p:spPr>
          <a:xfrm>
            <a:off x="502920" y="6473952"/>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ThotTalk — Master's Final Checkpoint</a:t>
            </a:r>
            <a:endParaRPr lang="en-US" sz="900" dirty="0"/>
          </a:p>
        </p:txBody>
      </p:sp>
      <p:sp>
        <p:nvSpPr>
          <p:cNvPr id="10" name="Text 8"/>
          <p:cNvSpPr/>
          <p:nvPr/>
        </p:nvSpPr>
        <p:spPr>
          <a:xfrm>
            <a:off x="11091672" y="6473952"/>
            <a:ext cx="64008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12E81"/>
        </a:solidFill>
      </p:bgPr>
    </p:bg>
    <p:spTree>
      <p:nvGrpSpPr>
        <p:cNvPr id="1" name=""/>
        <p:cNvGrpSpPr/>
        <p:nvPr/>
      </p:nvGrpSpPr>
      <p:grpSpPr>
        <a:xfrm>
          <a:off x="0" y="0"/>
          <a:ext cx="0" cy="0"/>
          <a:chOff x="0" y="0"/>
          <a:chExt cx="0" cy="0"/>
        </a:xfrm>
      </p:grpSpPr>
      <p:sp>
        <p:nvSpPr>
          <p:cNvPr id="2" name="Text 0"/>
          <p:cNvSpPr/>
          <p:nvPr/>
        </p:nvSpPr>
        <p:spPr>
          <a:xfrm>
            <a:off x="0" y="1828800"/>
            <a:ext cx="12188952" cy="9144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Text 1"/>
          <p:cNvSpPr/>
          <p:nvPr/>
        </p:nvSpPr>
        <p:spPr>
          <a:xfrm>
            <a:off x="0" y="2926080"/>
            <a:ext cx="12188952" cy="868680"/>
          </a:xfrm>
          <a:prstGeom prst="rect">
            <a:avLst/>
          </a:prstGeom>
          <a:noFill/>
          <a:ln/>
        </p:spPr>
        <p:txBody>
          <a:bodyPr wrap="square" rtlCol="0" anchor="ctr"/>
          <a:lstStyle/>
          <a:p>
            <a:pPr algn="ctr" indent="0" marL="0">
              <a:buNone/>
            </a:pPr>
            <a:r>
              <a:rPr lang="en-US" sz="1800" i="1" dirty="0">
                <a:solidFill>
                  <a:srgbClr val="C7C9F0"/>
                </a:solidFill>
                <a:latin typeface="Calibri" pitchFamily="34" charset="0"/>
                <a:ea typeface="Calibri" pitchFamily="34" charset="-122"/>
                <a:cs typeface="Calibri" pitchFamily="34" charset="-120"/>
              </a:rPr>
              <a:t>ThotTalk — from a blank UML diagram to a tested, documented,</a:t>
            </a:r>
            <a:endParaRPr lang="en-US" sz="1800" dirty="0"/>
          </a:p>
          <a:p>
            <a:pPr algn="ctr" indent="0" marL="0">
              <a:buNone/>
            </a:pPr>
            <a:r>
              <a:rPr lang="en-US" sz="1800" i="1" dirty="0">
                <a:solidFill>
                  <a:srgbClr val="C7C9F0"/>
                </a:solidFill>
                <a:latin typeface="Calibri" pitchFamily="34" charset="0"/>
                <a:ea typeface="Calibri" pitchFamily="34" charset="-122"/>
                <a:cs typeface="Calibri" pitchFamily="34" charset="-120"/>
              </a:rPr>
              <a:t>containerized application running in production.</a:t>
            </a:r>
            <a:endParaRPr lang="en-US" sz="1800" dirty="0"/>
          </a:p>
        </p:txBody>
      </p:sp>
      <p:sp>
        <p:nvSpPr>
          <p:cNvPr id="4" name="Shape 2"/>
          <p:cNvSpPr/>
          <p:nvPr/>
        </p:nvSpPr>
        <p:spPr>
          <a:xfrm>
            <a:off x="3108960" y="4160520"/>
            <a:ext cx="5971032" cy="1371600"/>
          </a:xfrm>
          <a:prstGeom prst="roundRect">
            <a:avLst>
              <a:gd name="adj" fmla="val 8000"/>
            </a:avLst>
          </a:prstGeom>
          <a:solidFill>
            <a:srgbClr val="FFFFFF"/>
          </a:solidFill>
          <a:ln/>
        </p:spPr>
      </p:sp>
      <p:sp>
        <p:nvSpPr>
          <p:cNvPr id="5" name="Text 3"/>
          <p:cNvSpPr/>
          <p:nvPr/>
        </p:nvSpPr>
        <p:spPr>
          <a:xfrm>
            <a:off x="3383280" y="4370832"/>
            <a:ext cx="5486400" cy="1005840"/>
          </a:xfrm>
          <a:prstGeom prst="rect">
            <a:avLst/>
          </a:prstGeom>
          <a:noFill/>
          <a:ln/>
        </p:spPr>
        <p:txBody>
          <a:bodyPr wrap="square" rtlCol="0" anchor="ctr"/>
          <a:lstStyle/>
          <a:p>
            <a:pPr algn="ctr" indent="0" marL="0">
              <a:buNone/>
            </a:pPr>
            <a:r>
              <a:rPr lang="en-US" sz="1700" b="1" dirty="0">
                <a:solidFill>
                  <a:srgbClr val="312E81"/>
                </a:solidFill>
                <a:latin typeface="Calibri" pitchFamily="34" charset="0"/>
                <a:ea typeface="Calibri" pitchFamily="34" charset="-122"/>
                <a:cs typeface="Calibri" pitchFamily="34" charset="-120"/>
              </a:rPr>
              <a:t>Try it:  thottalk.vercel.app</a:t>
            </a:r>
            <a:endParaRPr lang="en-US" sz="1700" dirty="0"/>
          </a:p>
          <a:p>
            <a:pPr algn="ctr" indent="0" marL="0">
              <a:buNone/>
            </a:pPr>
            <a:r>
              <a:rPr lang="en-US" sz="1350" dirty="0">
                <a:solidFill>
                  <a:srgbClr val="1F2937"/>
                </a:solidFill>
                <a:latin typeface="Calibri" pitchFamily="34" charset="0"/>
                <a:ea typeface="Calibri" pitchFamily="34" charset="-122"/>
                <a:cs typeface="Calibri" pitchFamily="34" charset="-120"/>
              </a:rPr>
              <a:t>Read it:  github.com/Sylviedistribution/Real-time-Chat-Application</a:t>
            </a:r>
            <a:endParaRPr lang="en-US" sz="1700" dirty="0"/>
          </a:p>
        </p:txBody>
      </p:sp>
      <p:sp>
        <p:nvSpPr>
          <p:cNvPr id="6" name="Text 4"/>
          <p:cNvSpPr/>
          <p:nvPr/>
        </p:nvSpPr>
        <p:spPr>
          <a:xfrm>
            <a:off x="0" y="5897880"/>
            <a:ext cx="12188952" cy="365760"/>
          </a:xfrm>
          <a:prstGeom prst="rect">
            <a:avLst/>
          </a:prstGeom>
          <a:noFill/>
          <a:ln/>
        </p:spPr>
        <p:txBody>
          <a:bodyPr wrap="square" rtlCol="0" anchor="ctr"/>
          <a:lstStyle/>
          <a:p>
            <a:pPr algn="ctr" indent="0" marL="0">
              <a:buNone/>
            </a:pPr>
            <a:r>
              <a:rPr lang="en-US" sz="1300" dirty="0">
                <a:solidFill>
                  <a:srgbClr val="D97706"/>
                </a:solidFill>
                <a:latin typeface="Calibri" pitchFamily="34" charset="0"/>
                <a:ea typeface="Calibri" pitchFamily="34" charset="-122"/>
                <a:cs typeface="Calibri" pitchFamily="34" charset="-120"/>
              </a:rPr>
              <a:t>Sylvestre IBOMBO GAKOSSO — Master's in Software Engineering, GOMYCODE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2026-07-27T09:18:28Z</dcterms:created>
  <dcterms:modified xsi:type="dcterms:W3CDTF">2026-07-27T09:18:28Z</dcterms:modified>
</cp:coreProperties>
</file>